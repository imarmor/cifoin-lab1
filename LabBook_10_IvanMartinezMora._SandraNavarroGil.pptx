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256" r:id="rId2"/>
    <p:sldId id="295" r:id="rId3"/>
    <p:sldId id="290" r:id="rId4"/>
    <p:sldId id="299" r:id="rId5"/>
    <p:sldId id="291" r:id="rId6"/>
    <p:sldId id="298" r:id="rId7"/>
    <p:sldId id="292" r:id="rId8"/>
    <p:sldId id="300" r:id="rId9"/>
    <p:sldId id="297" r:id="rId10"/>
    <p:sldId id="307" r:id="rId11"/>
    <p:sldId id="308" r:id="rId12"/>
    <p:sldId id="302" r:id="rId13"/>
    <p:sldId id="304" r:id="rId14"/>
    <p:sldId id="305" r:id="rId15"/>
    <p:sldId id="306"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2A876E-0754-B308-93FC-C84C513B7065}" name="Sandra Navarro Gil" initials="SN" userId="S::SNAVGIL@upv.edu.es::fd3d9b96-45a4-47de-bc8b-cef859911e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308"/>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11/03/2026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11/03/2026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1EFCA-D3B3-F54D-03BA-C2EFCB4197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97D88D-8D5A-7469-BEB8-C8D99D65E3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610CB6-392E-4320-C634-69FC543FEDF5}"/>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7010FE7-62EF-4C47-3030-0E25B47B4D0E}"/>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19776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5BFBB-D398-CCD4-0E97-121C58FE51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99AF45-07B4-EA2F-C8C4-46F69651B4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3F4938-41FA-A78B-6580-FEA09950F67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9621C13-7972-C2EC-05BF-015A1DFC84D5}"/>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747798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9E3B3-5C5A-C898-13E2-50B018E291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2ABCB2-6CFA-6FDD-2879-772D388809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FB1D8F-A230-AE9D-EA37-B888A0C1A12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7BC3783D-84CB-3CD5-DE04-00897D21BC16}"/>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267019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BD36-3F8F-379D-7572-D731096865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1F1B6B-A39B-A359-8B9F-77BF07F88B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CDBF217-3185-4671-F9D0-3732075CE87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DD5A1D3-9176-C80E-5FE3-918950894DBF}"/>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20886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BA5DF-72D5-F165-DB98-AE93EBBB46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7D12EF-5168-9EB1-2FC7-14F809189C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5A476D-24D3-890B-67C4-C9387D31A13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A69BE0-3187-FF96-36ED-317CDF1FF85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160699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E0BAA-97AB-C901-FF70-508CF3B3CF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92AA37-586C-A7E2-210D-1309C31E1F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F931BE-8ABA-0203-E1D0-8F0D19DDD4E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0CF70EA-680A-1E97-FFB5-6115BB3A2B4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549662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EBA1A-E616-B3BC-8253-370E7716BF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C9B559-56C1-F347-0883-EE14C58A96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FD2E9FC-CECA-DD02-9B6D-19EACF28B0D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7A98010-26AB-E2BE-5664-D7BC90AE9A75}"/>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997720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E3C87-F599-62B9-0504-50781504BB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4786A4-EC10-A93F-AD7F-0AD74EC5E9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55B0E33-3E3C-84EA-CF5B-1D7EB32366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6363345-7306-009F-5DED-F31380D9B8FC}"/>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28937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D2F29-9500-700D-ADE6-B428884F66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1B4353-2D82-ED2B-6CD5-11B106B6AE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D9E6A3-20F3-33E1-F344-7F5F90658F4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DA5A7A8-9593-AA9D-3007-FCE4F5B9DFC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4078564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0.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Students</a:t>
            </a:r>
            <a:r>
              <a:rPr lang="es-ES" spc="165">
                <a:latin typeface="Arial"/>
                <a:cs typeface="Arial"/>
              </a:rPr>
              <a:t>: Ivan Martínez Mora y Sandra Navarro Gil</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a:t>
            </a:r>
            <a:r>
              <a:rPr lang="en-US" sz="2000" err="1"/>
              <a:t>neff</a:t>
            </a:r>
            <a:r>
              <a:rPr lang="en-US" sz="2000"/>
              <a:t> …)</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err="1">
                <a:latin typeface="Arial" panose="020B0604020202020204" pitchFamily="34" charset="0"/>
                <a:cs typeface="Arial" panose="020B0604020202020204" pitchFamily="34" charset="0"/>
              </a:rPr>
              <a:t>Docµment</a:t>
            </a:r>
            <a:r>
              <a:rPr lang="en-US" sz="1200" dirty="0">
                <a:latin typeface="Arial" panose="020B0604020202020204" pitchFamily="34" charset="0"/>
                <a:cs typeface="Arial" panose="020B0604020202020204" pitchFamily="34" charset="0"/>
              </a:rPr>
              <a: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75ACD-D48B-B56A-0DF7-60C5AE4B104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DF82323-11B5-2D54-3B69-94F353C6A2A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2213EEB2-B812-F353-D5DA-D746EB7006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449F67-3202-E955-2D1C-4D31A2B1F133}"/>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46A27D40-47E1-CB57-24A4-5096A3F84526}"/>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02E014B7-064F-B294-D3E0-E2D832EFE1A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endParaRPr lang="en-US" sz="2000"/>
          </a:p>
        </p:txBody>
      </p:sp>
      <p:sp>
        <p:nvSpPr>
          <p:cNvPr id="2" name="CuadroTexto 1">
            <a:extLst>
              <a:ext uri="{FF2B5EF4-FFF2-40B4-BE49-F238E27FC236}">
                <a16:creationId xmlns:a16="http://schemas.microsoft.com/office/drawing/2014/main" id="{23D3156A-5AB1-DE64-129C-50AE1443499C}"/>
              </a:ext>
            </a:extLst>
          </p:cNvPr>
          <p:cNvSpPr txBox="1"/>
          <p:nvPr/>
        </p:nvSpPr>
        <p:spPr>
          <a:xfrm>
            <a:off x="608012" y="1091880"/>
            <a:ext cx="11199971" cy="387798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err="1">
                <a:latin typeface="Arial" panose="020B0604020202020204" pitchFamily="34" charset="0"/>
                <a:cs typeface="Arial" panose="020B0604020202020204" pitchFamily="34" charset="0"/>
              </a:rPr>
              <a:t>Partimos</a:t>
            </a:r>
            <a:r>
              <a:rPr lang="en-US" sz="1200" dirty="0">
                <a:latin typeface="Arial" panose="020B0604020202020204" pitchFamily="34" charset="0"/>
                <a:cs typeface="Arial" panose="020B0604020202020204" pitchFamily="34" charset="0"/>
              </a:rPr>
              <a:t> de 3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realizamos</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barrido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parámetrico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sobre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 1.5 a 1.6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uno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Crystaline Silicon (Si):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s-ES" sz="1200" dirty="0"/>
              <a:t>≈</a:t>
            </a:r>
            <a:r>
              <a:rPr lang="en-US" sz="1200" dirty="0">
                <a:latin typeface="Arial" panose="020B0604020202020204" pitchFamily="34" charset="0"/>
                <a:cs typeface="Arial" panose="020B0604020202020204" pitchFamily="34" charset="0"/>
              </a:rPr>
              <a:t> 3.4795</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Silicon Nitride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s-ES" sz="1200" dirty="0"/>
              <a:t>≈</a:t>
            </a:r>
            <a:r>
              <a:rPr lang="en-US" sz="1200" dirty="0">
                <a:latin typeface="Arial" panose="020B0604020202020204" pitchFamily="34" charset="0"/>
                <a:cs typeface="Arial" panose="020B0604020202020204" pitchFamily="34" charset="0"/>
              </a:rPr>
              <a:t> 2</a:t>
            </a:r>
          </a:p>
          <a:p>
            <a:pPr marL="628650" lvl="1" indent="-171450" algn="just">
              <a:buFont typeface="Arial" panose="020B0604020202020204" pitchFamily="34" charset="0"/>
              <a:buChar char="•"/>
            </a:pPr>
            <a:r>
              <a:rPr lang="en-US" sz="1200" dirty="0">
                <a:latin typeface="Arial" panose="020B0604020202020204" pitchFamily="34" charset="0"/>
                <a:cs typeface="Arial" panose="020B0604020202020204" pitchFamily="34" charset="0"/>
              </a:rPr>
              <a:t>Silicon Dioxide (SiO2):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s-ES" sz="1200" dirty="0"/>
              <a:t>≈</a:t>
            </a:r>
            <a:r>
              <a:rPr lang="en-US" sz="1200" dirty="0">
                <a:latin typeface="Arial" panose="020B0604020202020204" pitchFamily="34" charset="0"/>
                <a:cs typeface="Arial" panose="020B0604020202020204" pitchFamily="34" charset="0"/>
              </a:rPr>
              <a:t> 1.457</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las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pruebas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simulaciones</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utilizado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SiO2 y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CROSS SECTION</a:t>
            </a:r>
          </a:p>
          <a:p>
            <a:pPr algn="just"/>
            <a:r>
              <a:rPr lang="en-US" sz="1200" dirty="0">
                <a:latin typeface="Arial" panose="020B0604020202020204" pitchFamily="34" charset="0"/>
                <a:cs typeface="Arial" panose="020B0604020202020204" pitchFamily="34" charset="0"/>
              </a:rPr>
              <a:t>Se ha </a:t>
            </a:r>
            <a:r>
              <a:rPr lang="en-US" sz="1200" dirty="0" err="1">
                <a:latin typeface="Arial" panose="020B0604020202020204" pitchFamily="34" charset="0"/>
                <a:cs typeface="Arial" panose="020B0604020202020204" pitchFamily="34" charset="0"/>
              </a:rPr>
              <a:t>representado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gráficamente</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primero de </a:t>
            </a:r>
            <a:r>
              <a:rPr lang="en-US" sz="1200" dirty="0" err="1">
                <a:latin typeface="Arial" panose="020B0604020202020204" pitchFamily="34" charset="0"/>
                <a:cs typeface="Arial" panose="020B0604020202020204" pitchFamily="34" charset="0"/>
              </a:rPr>
              <a:t>ellos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cómo varía el índice de refracción en la sección transversal de la guía de onda, donde el índice de la cubierta es 1.45 y el del núcleo es 2. Respecto la gráfica del mallado, se ha comprobado que cuanto mayor sea la resolución se obtendrá un valor más preciso del índice efectivo. Sin embargo, se llegará a un punto donde por más que </a:t>
            </a:r>
            <a:r>
              <a:rPr lang="es-ES" sz="1200" dirty="0" err="1">
                <a:latin typeface="Arial" panose="020B0604020202020204" pitchFamily="34" charset="0"/>
                <a:cs typeface="Arial" panose="020B0604020202020204" pitchFamily="34" charset="0"/>
              </a:rPr>
              <a:t>aµmentemos</a:t>
            </a:r>
            <a:r>
              <a:rPr lang="es-ES" sz="1200" dirty="0">
                <a:latin typeface="Arial" panose="020B0604020202020204" pitchFamily="34" charset="0"/>
                <a:cs typeface="Arial" panose="020B0604020202020204" pitchFamily="34" charset="0"/>
              </a:rPr>
              <a:t> este valor no vamos a obtener mejores resultados, sino que </a:t>
            </a:r>
            <a:r>
              <a:rPr lang="es-ES" sz="1200" dirty="0" err="1">
                <a:latin typeface="Arial" panose="020B0604020202020204" pitchFamily="34" charset="0"/>
                <a:cs typeface="Arial" panose="020B0604020202020204" pitchFamily="34" charset="0"/>
              </a:rPr>
              <a:t>aµmentará</a:t>
            </a:r>
            <a:r>
              <a:rPr lang="es-ES" sz="1200" dirty="0">
                <a:latin typeface="Arial" panose="020B0604020202020204" pitchFamily="34" charset="0"/>
                <a:cs typeface="Arial" panose="020B0604020202020204" pitchFamily="34" charset="0"/>
              </a:rPr>
              <a:t> el coste computacional.</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SIMULACIONES</a:t>
            </a:r>
          </a:p>
          <a:p>
            <a:pPr algn="just"/>
            <a:r>
              <a:rPr lang="en-US" sz="1200" dirty="0" err="1">
                <a:latin typeface="Arial" panose="020B0604020202020204" pitchFamily="34" charset="0"/>
                <a:cs typeface="Arial" panose="020B0604020202020204" pitchFamily="34" charset="0"/>
              </a:rPr>
              <a:t>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simular</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diferentes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y 1 son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sus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 a 1.45. También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del campo transversal </a:t>
            </a:r>
            <a:r>
              <a:rPr lang="en-US" sz="1200" dirty="0" err="1">
                <a:latin typeface="Arial" panose="020B0604020202020204" pitchFamily="34" charset="0"/>
                <a:cs typeface="Arial" panose="020B0604020202020204" pitchFamily="34" charset="0"/>
              </a:rPr>
              <a:t>eléctrico</a:t>
            </a:r>
            <a:r>
              <a:rPr lang="en-US" sz="1200" dirty="0">
                <a:latin typeface="Arial" panose="020B0604020202020204" pitchFamily="34" charset="0"/>
                <a:cs typeface="Arial" panose="020B0604020202020204" pitchFamily="34" charset="0"/>
              </a:rPr>
              <a:t> (TE) y </a:t>
            </a:r>
            <a:r>
              <a:rPr lang="en-US" sz="1200" dirty="0" err="1">
                <a:latin typeface="Arial" panose="020B0604020202020204" pitchFamily="34" charset="0"/>
                <a:cs typeface="Arial" panose="020B0604020202020204" pitchFamily="34" charset="0"/>
              </a:rPr>
              <a:t>magnético</a:t>
            </a:r>
            <a:r>
              <a:rPr lang="en-US" sz="1200" dirty="0">
                <a:latin typeface="Arial" panose="020B0604020202020204" pitchFamily="34" charset="0"/>
                <a:cs typeface="Arial" panose="020B0604020202020204" pitchFamily="34" charset="0"/>
              </a:rPr>
              <a:t> (TM) </a:t>
            </a:r>
            <a:r>
              <a:rPr lang="en-US" sz="1200" dirty="0" err="1">
                <a:latin typeface="Arial" panose="020B0604020202020204" pitchFamily="34" charset="0"/>
                <a:cs typeface="Arial" panose="020B0604020202020204" pitchFamily="34" charset="0"/>
              </a:rPr>
              <a:t>verificando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cercanos</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unidad</a:t>
            </a:r>
            <a:r>
              <a:rPr lang="en-US" sz="1200" dirty="0">
                <a:latin typeface="Arial" panose="020B0604020202020204" pitchFamily="34" charset="0"/>
                <a:cs typeface="Arial" panose="020B0604020202020204" pitchFamily="34" charset="0"/>
              </a:rPr>
              <a:t> son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predominan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cada</a:t>
            </a:r>
            <a:r>
              <a:rPr lang="en-US" sz="1200" dirty="0">
                <a:latin typeface="Arial" panose="020B0604020202020204" pitchFamily="34" charset="0"/>
                <a:cs typeface="Arial" panose="020B0604020202020204" pitchFamily="34" charset="0"/>
              </a:rPr>
              <a:t> modo </a:t>
            </a:r>
            <a:r>
              <a:rPr lang="en-US" sz="1200" dirty="0" err="1">
                <a:latin typeface="Arial" panose="020B0604020202020204" pitchFamily="34" charset="0"/>
                <a:cs typeface="Arial" panose="020B0604020202020204" pitchFamily="34" charset="0"/>
              </a:rPr>
              <a:t>propagado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permitiéndonos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TE las </a:t>
            </a:r>
            <a:r>
              <a:rPr lang="en-US" sz="1200" dirty="0" err="1">
                <a:latin typeface="Arial" panose="020B0604020202020204" pitchFamily="34" charset="0"/>
                <a:cs typeface="Arial" panose="020B0604020202020204" pitchFamily="34" charset="0"/>
              </a:rPr>
              <a:t>discontinuidades</a:t>
            </a:r>
            <a:r>
              <a:rPr lang="en-US" sz="1200" dirty="0">
                <a:latin typeface="Arial" panose="020B0604020202020204" pitchFamily="34" charset="0"/>
                <a:cs typeface="Arial" panose="020B0604020202020204" pitchFamily="34" charset="0"/>
              </a:rPr>
              <a:t> del campo se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paredes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laterales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TM se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Podemos </a:t>
            </a:r>
            <a:r>
              <a:rPr lang="en-US" sz="1200" dirty="0" err="1">
                <a:latin typeface="Arial" panose="020B0604020202020204" pitchFamily="34" charset="0"/>
                <a:cs typeface="Arial" panose="020B0604020202020204" pitchFamily="34" charset="0"/>
              </a:rPr>
              <a:t>identificar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qué</a:t>
            </a:r>
            <a:r>
              <a:rPr lang="en-US" sz="1200" dirty="0">
                <a:latin typeface="Arial" panose="020B0604020202020204" pitchFamily="34" charset="0"/>
                <a:cs typeface="Arial" panose="020B0604020202020204" pitchFamily="34" charset="0"/>
              </a:rPr>
              <a:t> modo se </a:t>
            </a:r>
            <a:r>
              <a:rPr lang="en-US" sz="1200" dirty="0" err="1">
                <a:latin typeface="Arial" panose="020B0604020202020204" pitchFamily="34" charset="0"/>
                <a:cs typeface="Arial" panose="020B0604020202020204" pitchFamily="34" charset="0"/>
              </a:rPr>
              <a:t>trata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a lo largo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84695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512921" y="4721781"/>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es del material SiO2 y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un valor de 1.457,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gráficas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representa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línea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discontinua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cuyo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parámetro</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t>
            </a:r>
            <a:r>
              <a:rPr lang="es-ES" sz="1200" dirty="0" err="1">
                <a:latin typeface="Arial" panose="020B0604020202020204" pitchFamily="34" charset="0"/>
                <a:cs typeface="Arial" panose="020B0604020202020204" pitchFamily="34" charset="0"/>
              </a:rPr>
              <a:t>slab_thickness</a:t>
            </a:r>
            <a:r>
              <a:rPr lang="es-ES" sz="1200" dirty="0">
                <a:latin typeface="Arial" panose="020B0604020202020204" pitchFamily="34" charset="0"/>
                <a:cs typeface="Arial" panose="020B0604020202020204" pitchFamily="34" charset="0"/>
              </a:rPr>
              <a:t>” tiene un valor de 150 nm, podemos ver 4 modos y todos ellos se propagan. Por otro lado, cuando la guía de onda es Deep (“</a:t>
            </a:r>
            <a:r>
              <a:rPr lang="es-ES" sz="1200" dirty="0" err="1">
                <a:latin typeface="Arial" panose="020B0604020202020204" pitchFamily="34" charset="0"/>
                <a:cs typeface="Arial" panose="020B0604020202020204" pitchFamily="34" charset="0"/>
              </a:rPr>
              <a:t>slab_thickness</a:t>
            </a:r>
            <a:r>
              <a:rPr lang="es-ES" sz="1200" dirty="0">
                <a:latin typeface="Arial" panose="020B0604020202020204" pitchFamily="34" charset="0"/>
                <a:cs typeface="Arial" panose="020B0604020202020204" pitchFamily="34" charset="0"/>
              </a:rPr>
              <a:t>” igual a 0) de los 4 modos que aparecen solo se propagan 2, el Modo 0 y 1. Siendo el Modo 0 el más confinado en ambos casos.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las gráficas podemos ver que el índice efectivo no se mantiene constante, tiene un carácter decreciente ya que depende de la longitud de onda. Por tanto, para la misma guía de onda no vamos a obtener el mismo resultado cuando la longitud de onda sea 1.5 o 1.6 µm.</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512921" y="127982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380321" y="1279820"/>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descr="Gráfico, Gráfico de líneas&#10;&#10;El contenido generado por IA puede ser incorrecto.">
            <a:extLst>
              <a:ext uri="{FF2B5EF4-FFF2-40B4-BE49-F238E27FC236}">
                <a16:creationId xmlns:a16="http://schemas.microsoft.com/office/drawing/2014/main" id="{5BEC71A3-F5C6-391D-D350-05A27B168CD4}"/>
              </a:ext>
            </a:extLst>
          </p:cNvPr>
          <p:cNvPicPr>
            <a:picLocks noChangeAspect="1"/>
          </p:cNvPicPr>
          <p:nvPr/>
        </p:nvPicPr>
        <p:blipFill>
          <a:blip r:embed="rId5"/>
          <a:stretch>
            <a:fillRect/>
          </a:stretch>
        </p:blipFill>
        <p:spPr>
          <a:xfrm>
            <a:off x="6428660" y="1385128"/>
            <a:ext cx="5235891" cy="3054270"/>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58F8D4EF-97C3-604E-6664-C9FD5D490CFC}"/>
              </a:ext>
            </a:extLst>
          </p:cNvPr>
          <p:cNvPicPr>
            <a:picLocks noChangeAspect="1"/>
          </p:cNvPicPr>
          <p:nvPr/>
        </p:nvPicPr>
        <p:blipFill>
          <a:blip r:embed="rId6"/>
          <a:stretch>
            <a:fillRect/>
          </a:stretch>
        </p:blipFill>
        <p:spPr>
          <a:xfrm>
            <a:off x="609600" y="1313247"/>
            <a:ext cx="5161280" cy="301074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A28B-EC4A-8F0C-422A-747CDF18C7A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267688D-A672-2C89-0BA0-F188B9EC58D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8BED0E37-C4D3-05C3-2250-76F4311ABD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FB3C2E7-0938-49C1-FC76-8F8F24E2C5CF}"/>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0D98D0C7-250A-ABF5-A0D5-EEB0A0FACE38}"/>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7D7D9D25-8B87-328F-43FF-4506A09FCFE6}"/>
              </a:ext>
            </a:extLst>
          </p:cNvPr>
          <p:cNvSpPr txBox="1"/>
          <p:nvPr/>
        </p:nvSpPr>
        <p:spPr>
          <a:xfrm>
            <a:off x="609441" y="3962400"/>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A </a:t>
            </a:r>
            <a:r>
              <a:rPr lang="en-US" sz="1200" err="1">
                <a:latin typeface="Arial" panose="020B0604020202020204" pitchFamily="34" charset="0"/>
                <a:cs typeface="Arial" panose="020B0604020202020204" pitchFamily="34" charset="0"/>
              </a:rPr>
              <a:t>continuación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hemos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implementado</a:t>
            </a:r>
            <a:r>
              <a:rPr lang="en-US" sz="1200">
                <a:latin typeface="Arial" panose="020B0604020202020204" pitchFamily="34" charset="0"/>
                <a:cs typeface="Arial" panose="020B0604020202020204" pitchFamily="34" charset="0"/>
              </a:rPr>
              <a:t> un </a:t>
            </a:r>
            <a:r>
              <a:rPr lang="en-US" sz="1200" err="1">
                <a:latin typeface="Arial" panose="020B0604020202020204" pitchFamily="34" charset="0"/>
                <a:cs typeface="Arial" panose="020B0604020202020204" pitchFamily="34" charset="0"/>
              </a:rPr>
              <a:t>código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calcula</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cada</a:t>
            </a:r>
            <a:r>
              <a:rPr lang="en-US" sz="1200">
                <a:latin typeface="Arial" panose="020B0604020202020204" pitchFamily="34" charset="0"/>
                <a:cs typeface="Arial" panose="020B0604020202020204" pitchFamily="34" charset="0"/>
              </a:rPr>
              <a:t> modo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porcentaje</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variación</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a:t>
            </a:r>
            <a:r>
              <a:rPr lang="en-US" sz="1200">
                <a:latin typeface="Arial" panose="020B0604020202020204" pitchFamily="34" charset="0"/>
                <a:cs typeface="Arial" panose="020B0604020202020204" pitchFamily="34" charset="0"/>
              </a:rPr>
              <a:t>. </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En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a:t>
            </a:r>
            <a:r>
              <a:rPr lang="en-US" sz="1200">
                <a:latin typeface="Arial" panose="020B0604020202020204" pitchFamily="34" charset="0"/>
                <a:cs typeface="Arial" panose="020B0604020202020204" pitchFamily="34" charset="0"/>
              </a:rPr>
              <a:t> “Deep”, al solo </a:t>
            </a:r>
            <a:r>
              <a:rPr lang="en-US" sz="1200" err="1">
                <a:latin typeface="Arial" panose="020B0604020202020204" pitchFamily="34" charset="0"/>
                <a:cs typeface="Arial" panose="020B0604020202020204" pitchFamily="34" charset="0"/>
              </a:rPr>
              <a:t>propagarse</a:t>
            </a:r>
            <a:r>
              <a:rPr lang="en-US" sz="1200">
                <a:latin typeface="Arial" panose="020B0604020202020204" pitchFamily="34" charset="0"/>
                <a:cs typeface="Arial" panose="020B0604020202020204" pitchFamily="34" charset="0"/>
              </a:rPr>
              <a:t> un modo TE y uno TM </a:t>
            </a:r>
            <a:r>
              <a:rPr lang="en-US" sz="1200" err="1">
                <a:latin typeface="Arial" panose="020B0604020202020204" pitchFamily="34" charset="0"/>
                <a:cs typeface="Arial" panose="020B0604020202020204" pitchFamily="34" charset="0"/>
              </a:rPr>
              <a:t>esta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comparación</a:t>
            </a:r>
            <a:r>
              <a:rPr lang="en-US" sz="1200">
                <a:latin typeface="Arial" panose="020B0604020202020204" pitchFamily="34" charset="0"/>
                <a:cs typeface="Arial" panose="020B0604020202020204" pitchFamily="34" charset="0"/>
              </a:rPr>
              <a:t> no </a:t>
            </a:r>
            <a:r>
              <a:rPr lang="en-US" sz="1200" err="1">
                <a:latin typeface="Arial" panose="020B0604020202020204" pitchFamily="34" charset="0"/>
                <a:cs typeface="Arial" panose="020B0604020202020204" pitchFamily="34" charset="0"/>
              </a:rPr>
              <a:t>nos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resulta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útil</a:t>
            </a:r>
            <a:r>
              <a:rPr lang="en-US" sz="1200">
                <a:latin typeface="Arial" panose="020B0604020202020204" pitchFamily="34" charset="0"/>
                <a:cs typeface="Arial" panose="020B0604020202020204" pitchFamily="34" charset="0"/>
              </a:rPr>
              <a:t>. En </a:t>
            </a:r>
            <a:r>
              <a:rPr lang="en-US" sz="1200" err="1">
                <a:latin typeface="Arial" panose="020B0604020202020204" pitchFamily="34" charset="0"/>
                <a:cs typeface="Arial" panose="020B0604020202020204" pitchFamily="34" charset="0"/>
              </a:rPr>
              <a:t>cambio</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caso</a:t>
            </a:r>
            <a:r>
              <a:rPr lang="en-US" sz="1200">
                <a:latin typeface="Arial" panose="020B0604020202020204" pitchFamily="34" charset="0"/>
                <a:cs typeface="Arial" panose="020B0604020202020204" pitchFamily="34" charset="0"/>
              </a:rPr>
              <a:t> “Shallow” </a:t>
            </a:r>
            <a:r>
              <a:rPr lang="en-US" sz="1200" err="1">
                <a:latin typeface="Arial" panose="020B0604020202020204" pitchFamily="34" charset="0"/>
                <a:cs typeface="Arial" panose="020B0604020202020204" pitchFamily="34" charset="0"/>
              </a:rPr>
              <a:t>podemos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concluir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 </a:t>
            </a:r>
            <a:r>
              <a:rPr lang="en-US" sz="1200" err="1">
                <a:latin typeface="Arial" panose="020B0604020202020204" pitchFamily="34" charset="0"/>
                <a:cs typeface="Arial" panose="020B0604020202020204" pitchFamily="34" charset="0"/>
              </a:rPr>
              <a:t>menor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porcentaje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implica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menor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variación</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índice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efectivo</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modo,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función</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aplicación</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onda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tomaremos</a:t>
            </a:r>
            <a:r>
              <a:rPr lang="en-US" sz="1200">
                <a:latin typeface="Arial" panose="020B0604020202020204" pitchFamily="34" charset="0"/>
                <a:cs typeface="Arial" panose="020B0604020202020204" pitchFamily="34" charset="0"/>
              </a:rPr>
              <a:t> un modo u </a:t>
            </a:r>
            <a:r>
              <a:rPr lang="en-US" sz="1200" err="1">
                <a:latin typeface="Arial" panose="020B0604020202020204" pitchFamily="34" charset="0"/>
                <a:cs typeface="Arial" panose="020B0604020202020204" pitchFamily="34" charset="0"/>
              </a:rPr>
              <a:t>otro</a:t>
            </a:r>
            <a:r>
              <a:rPr lang="en-US" sz="1200">
                <a:latin typeface="Arial" panose="020B0604020202020204" pitchFamily="34" charset="0"/>
                <a:cs typeface="Arial" panose="020B0604020202020204" pitchFamily="34" charset="0"/>
              </a:rPr>
              <a:t>.</a:t>
            </a:r>
          </a:p>
        </p:txBody>
      </p:sp>
      <p:sp>
        <p:nvSpPr>
          <p:cNvPr id="5" name="Rectángulo 4">
            <a:extLst>
              <a:ext uri="{FF2B5EF4-FFF2-40B4-BE49-F238E27FC236}">
                <a16:creationId xmlns:a16="http://schemas.microsoft.com/office/drawing/2014/main" id="{A24C6971-D7B9-7DB3-BD31-6D93A569EF71}"/>
              </a:ext>
            </a:extLst>
          </p:cNvPr>
          <p:cNvSpPr/>
          <p:nvPr/>
        </p:nvSpPr>
        <p:spPr>
          <a:xfrm>
            <a:off x="609441" y="1418373"/>
            <a:ext cx="5332571" cy="2315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5A4F2A5-4D5C-DFBC-DB34-6B9B9DA96FF8}"/>
              </a:ext>
            </a:extLst>
          </p:cNvPr>
          <p:cNvSpPr/>
          <p:nvPr/>
        </p:nvSpPr>
        <p:spPr>
          <a:xfrm>
            <a:off x="6476841" y="1418373"/>
            <a:ext cx="5332571" cy="2315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Texto&#10;&#10;El contenido generado por IA puede ser incorrecto.">
            <a:extLst>
              <a:ext uri="{FF2B5EF4-FFF2-40B4-BE49-F238E27FC236}">
                <a16:creationId xmlns:a16="http://schemas.microsoft.com/office/drawing/2014/main" id="{FD8AD819-BA70-26F9-300D-8A8E675C8025}"/>
              </a:ext>
            </a:extLst>
          </p:cNvPr>
          <p:cNvPicPr>
            <a:picLocks noChangeAspect="1"/>
          </p:cNvPicPr>
          <p:nvPr/>
        </p:nvPicPr>
        <p:blipFill>
          <a:blip r:embed="rId5"/>
          <a:stretch>
            <a:fillRect/>
          </a:stretch>
        </p:blipFill>
        <p:spPr>
          <a:xfrm>
            <a:off x="685800" y="1509709"/>
            <a:ext cx="5205117" cy="2110018"/>
          </a:xfrm>
          <a:prstGeom prst="rect">
            <a:avLst/>
          </a:prstGeom>
        </p:spPr>
      </p:pic>
      <p:pic>
        <p:nvPicPr>
          <p:cNvPr id="9" name="Imagen 8" descr="Texto&#10;&#10;El contenido generado por IA puede ser incorrecto.">
            <a:extLst>
              <a:ext uri="{FF2B5EF4-FFF2-40B4-BE49-F238E27FC236}">
                <a16:creationId xmlns:a16="http://schemas.microsoft.com/office/drawing/2014/main" id="{01236A9D-A054-12A9-48C1-758D9C404325}"/>
              </a:ext>
            </a:extLst>
          </p:cNvPr>
          <p:cNvPicPr>
            <a:picLocks noChangeAspect="1"/>
          </p:cNvPicPr>
          <p:nvPr/>
        </p:nvPicPr>
        <p:blipFill>
          <a:blip r:embed="rId6"/>
          <a:stretch>
            <a:fillRect/>
          </a:stretch>
        </p:blipFill>
        <p:spPr>
          <a:xfrm>
            <a:off x="6578832" y="1556402"/>
            <a:ext cx="5128588" cy="2039368"/>
          </a:xfrm>
          <a:prstGeom prst="rect">
            <a:avLst/>
          </a:prstGeom>
        </p:spPr>
      </p:pic>
    </p:spTree>
    <p:extLst>
      <p:ext uri="{BB962C8B-B14F-4D97-AF65-F5344CB8AC3E}">
        <p14:creationId xmlns:p14="http://schemas.microsoft.com/office/powerpoint/2010/main" val="2636341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8382000" y="1418372"/>
            <a:ext cx="3298210" cy="433965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Tal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aµmenta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Respecto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un ancho inferior a 1.2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solo se </a:t>
            </a:r>
            <a:r>
              <a:rPr lang="en-US" sz="1200" dirty="0" err="1">
                <a:latin typeface="Arial" panose="020B0604020202020204" pitchFamily="34" charset="0"/>
                <a:cs typeface="Arial" panose="020B0604020202020204" pitchFamily="34" charset="0"/>
              </a:rPr>
              <a:t>propaga</a:t>
            </a:r>
            <a:r>
              <a:rPr lang="en-US" sz="1200" dirty="0">
                <a:latin typeface="Arial" panose="020B0604020202020204" pitchFamily="34" charset="0"/>
                <a:cs typeface="Arial" panose="020B0604020202020204" pitchFamily="34" charset="0"/>
              </a:rPr>
              <a:t> un modo TE y uno TM.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 a 1.3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2 con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dejando</a:t>
            </a:r>
            <a:r>
              <a:rPr lang="en-US" sz="1200" dirty="0">
                <a:latin typeface="Arial" panose="020B0604020202020204" pitchFamily="34" charset="0"/>
                <a:cs typeface="Arial" panose="020B0604020202020204" pitchFamily="34" charset="0"/>
              </a:rPr>
              <a:t> de ser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Es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punto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obtenemos</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es para un ancho de 1.2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mantiene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elevada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7543959" cy="4339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 Gráfico de líneas&#10;&#10;El contenido generado por IA puede ser incorrecto.">
            <a:extLst>
              <a:ext uri="{FF2B5EF4-FFF2-40B4-BE49-F238E27FC236}">
                <a16:creationId xmlns:a16="http://schemas.microsoft.com/office/drawing/2014/main" id="{7D56C0C9-05EB-0492-5FAF-450B0801C22C}"/>
              </a:ext>
            </a:extLst>
          </p:cNvPr>
          <p:cNvPicPr>
            <a:picLocks noChangeAspect="1"/>
          </p:cNvPicPr>
          <p:nvPr/>
        </p:nvPicPr>
        <p:blipFill>
          <a:blip r:embed="rId5"/>
          <a:stretch>
            <a:fillRect/>
          </a:stretch>
        </p:blipFill>
        <p:spPr>
          <a:xfrm>
            <a:off x="677333" y="1455753"/>
            <a:ext cx="7399867" cy="4259248"/>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4B78-5799-2187-B221-32F06DF69A7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F232119-FF18-D7E8-4F4F-E73E24B3E7F1}"/>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w=1.2µm   - </a:t>
            </a:r>
            <a:r>
              <a:rPr lang="en-US" dirty="0"/>
              <a:t>Shallow</a:t>
            </a:r>
            <a:r>
              <a:rPr lang="en-US" b="0" dirty="0"/>
              <a:t> waveguide, core h=300nm, slab h=150 nm, w = 1.2µm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41EB903-C084-4ED7-6347-696B4618C4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955D1FD-6161-AF61-E8F7-C8FB637DCC0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2A19DA27-901B-C2D3-5470-5746FA512D27}"/>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graphicFrame>
            <p:nvGraphicFramePr>
              <p:cNvPr id="4" name="Tabla 3">
                <a:extLst>
                  <a:ext uri="{FF2B5EF4-FFF2-40B4-BE49-F238E27FC236}">
                    <a16:creationId xmlns:a16="http://schemas.microsoft.com/office/drawing/2014/main" id="{EBA3E71C-1AF6-5969-911C-949A328B93D8}"/>
                  </a:ext>
                </a:extLst>
              </p:cNvPr>
              <p:cNvGraphicFramePr>
                <a:graphicFrameLocks noGrp="1"/>
              </p:cNvGraphicFramePr>
              <p:nvPr>
                <p:extLst>
                  <p:ext uri="{D42A27DB-BD31-4B8C-83A1-F6EECF244321}">
                    <p14:modId xmlns:p14="http://schemas.microsoft.com/office/powerpoint/2010/main" val="2215810836"/>
                  </p:ext>
                </p:extLst>
              </p:nvPr>
            </p:nvGraphicFramePr>
            <p:xfrm>
              <a:off x="1115705" y="1460260"/>
              <a:ext cx="10134600" cy="2665492"/>
            </p:xfrm>
            <a:graphic>
              <a:graphicData uri="http://schemas.openxmlformats.org/drawingml/2006/table">
                <a:tbl>
                  <a:tblPr firstRow="1" bandRow="1">
                    <a:tableStyleId>{21E4AEA4-8DFA-4A89-87EB-49C32662AFE0}</a:tableStyleId>
                  </a:tblPr>
                  <a:tblGrid>
                    <a:gridCol w="1551295">
                      <a:extLst>
                        <a:ext uri="{9D8B030D-6E8A-4147-A177-3AD203B41FA5}">
                          <a16:colId xmlns:a16="http://schemas.microsoft.com/office/drawing/2014/main" val="3893883782"/>
                        </a:ext>
                      </a:extLst>
                    </a:gridCol>
                    <a:gridCol w="2133600">
                      <a:extLst>
                        <a:ext uri="{9D8B030D-6E8A-4147-A177-3AD203B41FA5}">
                          <a16:colId xmlns:a16="http://schemas.microsoft.com/office/drawing/2014/main" val="3714792932"/>
                        </a:ext>
                      </a:extLst>
                    </a:gridCol>
                    <a:gridCol w="2133600">
                      <a:extLst>
                        <a:ext uri="{9D8B030D-6E8A-4147-A177-3AD203B41FA5}">
                          <a16:colId xmlns:a16="http://schemas.microsoft.com/office/drawing/2014/main" val="2384085912"/>
                        </a:ext>
                      </a:extLst>
                    </a:gridCol>
                    <a:gridCol w="2133600">
                      <a:extLst>
                        <a:ext uri="{9D8B030D-6E8A-4147-A177-3AD203B41FA5}">
                          <a16:colId xmlns:a16="http://schemas.microsoft.com/office/drawing/2014/main" val="603494867"/>
                        </a:ext>
                      </a:extLst>
                    </a:gridCol>
                    <a:gridCol w="2182505">
                      <a:extLst>
                        <a:ext uri="{9D8B030D-6E8A-4147-A177-3AD203B41FA5}">
                          <a16:colId xmlns:a16="http://schemas.microsoft.com/office/drawing/2014/main" val="1787915585"/>
                        </a:ext>
                      </a:extLst>
                    </a:gridCol>
                  </a:tblGrid>
                  <a:tr h="347724">
                    <a:tc rowSpan="2">
                      <a:txBody>
                        <a:bodyPr/>
                        <a:lstStyle/>
                        <a:p>
                          <a:pPr algn="ctr"/>
                          <a:endParaRPr lang="es-ES"/>
                        </a:p>
                      </a:txBody>
                      <a:tcPr anchor="ctr"/>
                    </a:tc>
                    <a:tc gridSpan="2">
                      <a:txBody>
                        <a:bodyPr/>
                        <a:lstStyle/>
                        <a:p>
                          <a:pPr algn="ctr"/>
                          <a:r>
                            <a:rPr lang="es-ES" b="1"/>
                            <a:t>GUÍA DE ONDA TIPO DEEP</a:t>
                          </a:r>
                        </a:p>
                      </a:txBody>
                      <a:tcPr anchor="ctr"/>
                    </a:tc>
                    <a:tc hMerge="1">
                      <a:txBody>
                        <a:bodyPr/>
                        <a:lstStyle/>
                        <a:p>
                          <a:pPr algn="ctr"/>
                          <a:endParaRPr lang="es-ES"/>
                        </a:p>
                      </a:txBody>
                      <a:tcPr/>
                    </a:tc>
                    <a:tc gridSpan="2">
                      <a:txBody>
                        <a:bodyPr/>
                        <a:lstStyle/>
                        <a:p>
                          <a:pPr algn="ctr"/>
                          <a:r>
                            <a:rPr lang="es-ES" b="1"/>
                            <a:t>GUÍA DE ONDA TIPO SHALLOW</a:t>
                          </a:r>
                        </a:p>
                      </a:txBody>
                      <a:tcPr anchor="ctr"/>
                    </a:tc>
                    <a:tc hMerge="1">
                      <a:txBody>
                        <a:bodyPr/>
                        <a:lstStyle/>
                        <a:p>
                          <a:pPr algn="ctr"/>
                          <a:endParaRPr lang="es-ES"/>
                        </a:p>
                      </a:txBody>
                      <a:tcPr/>
                    </a:tc>
                    <a:extLst>
                      <a:ext uri="{0D108BD9-81ED-4DB2-BD59-A6C34878D82A}">
                        <a16:rowId xmlns:a16="http://schemas.microsoft.com/office/drawing/2014/main" val="1154840119"/>
                      </a:ext>
                    </a:extLst>
                  </a:tr>
                  <a:tr h="347724">
                    <a:tc vMerge="1">
                      <a:txBody>
                        <a:bodyPr/>
                        <a:lstStyle/>
                        <a:p>
                          <a:pPr algn="ctr"/>
                          <a:endParaRPr lang="es-ES"/>
                        </a:p>
                      </a:txBody>
                      <a:tcPr/>
                    </a:tc>
                    <a:tc>
                      <a:txBody>
                        <a:bodyPr/>
                        <a:lstStyle/>
                        <a:p>
                          <a:pPr algn="ctr"/>
                          <a:r>
                            <a:rPr lang="es-ES" b="1" dirty="0"/>
                            <a:t>TE MODO 0</a:t>
                          </a:r>
                        </a:p>
                      </a:txBody>
                      <a:tcPr anchor="ctr"/>
                    </a:tc>
                    <a:tc>
                      <a:txBody>
                        <a:bodyPr/>
                        <a:lstStyle/>
                        <a:p>
                          <a:pPr algn="ctr"/>
                          <a:r>
                            <a:rPr lang="es-ES" b="1"/>
                            <a:t>TM MODO 1</a:t>
                          </a:r>
                        </a:p>
                      </a:txBody>
                      <a:tcPr anchor="ctr"/>
                    </a:tc>
                    <a:tc>
                      <a:txBody>
                        <a:bodyPr/>
                        <a:lstStyle/>
                        <a:p>
                          <a:pPr algn="ctr"/>
                          <a:r>
                            <a:rPr lang="es-ES" b="1"/>
                            <a:t>TE MODO 0</a:t>
                          </a:r>
                        </a:p>
                      </a:txBody>
                      <a:tcPr anchor="ctr"/>
                    </a:tc>
                    <a:tc>
                      <a:txBody>
                        <a:bodyPr/>
                        <a:lstStyle/>
                        <a:p>
                          <a:pPr algn="ctr"/>
                          <a:r>
                            <a:rPr lang="es-ES" b="1"/>
                            <a:t>TM MODO 1</a:t>
                          </a:r>
                        </a:p>
                      </a:txBody>
                      <a:tcPr anchor="ctr"/>
                    </a:tc>
                    <a:extLst>
                      <a:ext uri="{0D108BD9-81ED-4DB2-BD59-A6C34878D82A}">
                        <a16:rowId xmlns:a16="http://schemas.microsoft.com/office/drawing/2014/main" val="3887036587"/>
                      </a:ext>
                    </a:extLst>
                  </a:tr>
                  <a:tr h="608518">
                    <a:tc>
                      <a:txBody>
                        <a:bodyPr/>
                        <a:lstStyle/>
                        <a:p>
                          <a:pPr algn="ctr"/>
                          <a:r>
                            <a:rPr lang="es-ES"/>
                            <a:t>POLINOMIO</a:t>
                          </a:r>
                        </a:p>
                        <a:p>
                          <a:pPr algn="ctr"/>
                          <a:r>
                            <a:rPr lang="es-ES"/>
                            <a:t>[n1 n2 n3]</a:t>
                          </a:r>
                        </a:p>
                      </a:txBody>
                      <a:tcPr anchor="ctr"/>
                    </a:tc>
                    <a:tc>
                      <a:txBody>
                        <a:bodyPr/>
                        <a:lstStyle/>
                        <a:p>
                          <a:pPr algn="ctr"/>
                          <a:r>
                            <a:rPr lang="es-ES"/>
                            <a:t>[1.605 -0.216 0.097]</a:t>
                          </a:r>
                        </a:p>
                      </a:txBody>
                      <a:tcPr anchor="ctr"/>
                    </a:tc>
                    <a:tc>
                      <a:txBody>
                        <a:bodyPr/>
                        <a:lstStyle/>
                        <a:p>
                          <a:pPr algn="ctr"/>
                          <a:r>
                            <a:rPr lang="es-ES"/>
                            <a:t>[1.527 -0.158 0.154]</a:t>
                          </a:r>
                        </a:p>
                      </a:txBody>
                      <a:tcPr anchor="ctr"/>
                    </a:tc>
                    <a:tc>
                      <a:txBody>
                        <a:bodyPr/>
                        <a:lstStyle/>
                        <a:p>
                          <a:pPr algn="ctr"/>
                          <a:r>
                            <a:rPr lang="es-ES"/>
                            <a:t>[1.624 -0.188 0.096]</a:t>
                          </a:r>
                        </a:p>
                      </a:txBody>
                      <a:tcPr anchor="ctr"/>
                    </a:tc>
                    <a:tc>
                      <a:txBody>
                        <a:bodyPr/>
                        <a:lstStyle/>
                        <a:p>
                          <a:pPr algn="ctr"/>
                          <a:r>
                            <a:rPr lang="es-ES"/>
                            <a:t>[1.542 -0.133 0.148]</a:t>
                          </a:r>
                        </a:p>
                      </a:txBody>
                      <a:tcPr anchor="ctr"/>
                    </a:tc>
                    <a:extLst>
                      <a:ext uri="{0D108BD9-81ED-4DB2-BD59-A6C34878D82A}">
                        <a16:rowId xmlns:a16="http://schemas.microsoft.com/office/drawing/2014/main" val="512193831"/>
                      </a:ext>
                    </a:extLst>
                  </a:tr>
                  <a:tr h="400877">
                    <a:tc>
                      <a:txBody>
                        <a:bodyPr/>
                        <a:lstStyle/>
                        <a:p>
                          <a:pPr algn="ctr"/>
                          <a:r>
                            <a:rPr lang="es-ES"/>
                            <a:t>neff(</a:t>
                          </a:r>
                          <a14:m>
                            <m:oMath xmlns:m="http://schemas.openxmlformats.org/officeDocument/2006/math">
                              <m:sSub>
                                <m:sSubPr>
                                  <m:ctrlPr>
                                    <a:rPr lang="es-ES" i="1" smtClean="0">
                                      <a:latin typeface="Cambria Math" panose="02040503050406030204" pitchFamily="18" charset="0"/>
                                    </a:rPr>
                                  </m:ctrlPr>
                                </m:sSubPr>
                                <m:e>
                                  <m:r>
                                    <m:rPr>
                                      <m:nor/>
                                    </m:rPr>
                                    <a:rPr lang="el-GR" dirty="0" smtClean="0"/>
                                    <m:t>λ</m:t>
                                  </m:r>
                                </m:e>
                                <m:sub>
                                  <m:r>
                                    <a:rPr lang="es-ES" b="0" i="1" smtClean="0">
                                      <a:latin typeface="Cambria Math" panose="02040503050406030204" pitchFamily="18" charset="0"/>
                                    </a:rPr>
                                    <m:t>0</m:t>
                                  </m:r>
                                </m:sub>
                              </m:sSub>
                            </m:oMath>
                          </a14:m>
                          <a:r>
                            <a:rPr lang="es-ES"/>
                            <a:t>)</a:t>
                          </a:r>
                        </a:p>
                      </a:txBody>
                      <a:tcPr anchor="ctr"/>
                    </a:tc>
                    <a:tc>
                      <a:txBody>
                        <a:bodyPr/>
                        <a:lstStyle/>
                        <a:p>
                          <a:pPr algn="ctr"/>
                          <a:r>
                            <a:rPr lang="es-ES"/>
                            <a:t>1.605</a:t>
                          </a:r>
                        </a:p>
                      </a:txBody>
                      <a:tcPr anchor="ctr"/>
                    </a:tc>
                    <a:tc>
                      <a:txBody>
                        <a:bodyPr/>
                        <a:lstStyle/>
                        <a:p>
                          <a:pPr algn="ctr"/>
                          <a:r>
                            <a:rPr lang="es-ES"/>
                            <a:t>1.527</a:t>
                          </a:r>
                        </a:p>
                      </a:txBody>
                      <a:tcPr anchor="ctr"/>
                    </a:tc>
                    <a:tc>
                      <a:txBody>
                        <a:bodyPr/>
                        <a:lstStyle/>
                        <a:p>
                          <a:pPr algn="ctr"/>
                          <a:r>
                            <a:rPr lang="es-ES"/>
                            <a:t>1.624</a:t>
                          </a:r>
                        </a:p>
                      </a:txBody>
                      <a:tcPr anchor="ctr"/>
                    </a:tc>
                    <a:tc>
                      <a:txBody>
                        <a:bodyPr/>
                        <a:lstStyle/>
                        <a:p>
                          <a:pPr algn="ctr"/>
                          <a:r>
                            <a:rPr lang="es-ES"/>
                            <a:t>1.542</a:t>
                          </a:r>
                        </a:p>
                      </a:txBody>
                      <a:tcPr anchor="ctr"/>
                    </a:tc>
                    <a:extLst>
                      <a:ext uri="{0D108BD9-81ED-4DB2-BD59-A6C34878D82A}">
                        <a16:rowId xmlns:a16="http://schemas.microsoft.com/office/drawing/2014/main" val="516489084"/>
                      </a:ext>
                    </a:extLst>
                  </a:tr>
                  <a:tr h="41611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
                            <a:t>ngrupo(</a:t>
                          </a:r>
                          <a14:m>
                            <m:oMath xmlns:m="http://schemas.openxmlformats.org/officeDocument/2006/math">
                              <m:sSub>
                                <m:sSubPr>
                                  <m:ctrlPr>
                                    <a:rPr lang="es-ES" i="1" smtClean="0">
                                      <a:latin typeface="Cambria Math" panose="02040503050406030204" pitchFamily="18" charset="0"/>
                                    </a:rPr>
                                  </m:ctrlPr>
                                </m:sSubPr>
                                <m:e>
                                  <m:r>
                                    <m:rPr>
                                      <m:nor/>
                                    </m:rPr>
                                    <a:rPr lang="el-GR" dirty="0" smtClean="0"/>
                                    <m:t>λ</m:t>
                                  </m:r>
                                </m:e>
                                <m:sub>
                                  <m:r>
                                    <a:rPr lang="es-ES" b="0" i="1" smtClean="0">
                                      <a:latin typeface="Cambria Math" panose="02040503050406030204" pitchFamily="18" charset="0"/>
                                    </a:rPr>
                                    <m:t>0</m:t>
                                  </m:r>
                                </m:sub>
                              </m:sSub>
                            </m:oMath>
                          </a14:m>
                          <a:r>
                            <a:rPr lang="es-ES"/>
                            <a:t>)</a:t>
                          </a:r>
                        </a:p>
                      </a:txBody>
                      <a:tcPr anchor="ctr"/>
                    </a:tc>
                    <a:tc>
                      <a:txBody>
                        <a:bodyPr/>
                        <a:lstStyle/>
                        <a:p>
                          <a:pPr algn="ctr"/>
                          <a:r>
                            <a:rPr lang="es-ES"/>
                            <a:t>1.94</a:t>
                          </a:r>
                        </a:p>
                      </a:txBody>
                      <a:tcPr anchor="ctr"/>
                    </a:tc>
                    <a:tc>
                      <a:txBody>
                        <a:bodyPr/>
                        <a:lstStyle/>
                        <a:p>
                          <a:pPr algn="ctr"/>
                          <a:r>
                            <a:rPr lang="es-ES"/>
                            <a:t>1.772</a:t>
                          </a:r>
                        </a:p>
                      </a:txBody>
                      <a:tcPr anchor="ctr"/>
                    </a:tc>
                    <a:tc>
                      <a:txBody>
                        <a:bodyPr/>
                        <a:lstStyle/>
                        <a:p>
                          <a:pPr algn="ctr"/>
                          <a:r>
                            <a:rPr lang="es-ES"/>
                            <a:t>1.916</a:t>
                          </a:r>
                        </a:p>
                      </a:txBody>
                      <a:tcPr anchor="ctr"/>
                    </a:tc>
                    <a:tc>
                      <a:txBody>
                        <a:bodyPr/>
                        <a:lstStyle/>
                        <a:p>
                          <a:pPr algn="ctr"/>
                          <a:r>
                            <a:rPr lang="es-ES"/>
                            <a:t>1.747</a:t>
                          </a:r>
                        </a:p>
                      </a:txBody>
                      <a:tcPr anchor="ctr"/>
                    </a:tc>
                    <a:extLst>
                      <a:ext uri="{0D108BD9-81ED-4DB2-BD59-A6C34878D82A}">
                        <a16:rowId xmlns:a16="http://schemas.microsoft.com/office/drawing/2014/main" val="4192919050"/>
                      </a:ext>
                    </a:extLst>
                  </a:tr>
                  <a:tr h="476898">
                    <a:tc>
                      <a:txBody>
                        <a:bodyPr/>
                        <a:lstStyle/>
                        <a:p>
                          <a:pPr algn="ctr"/>
                          <a:r>
                            <a:rPr lang="es-ES"/>
                            <a:t>D</a:t>
                          </a:r>
                        </a:p>
                      </a:txBody>
                      <a:tcPr anchor="ctr"/>
                    </a:tc>
                    <a:tc>
                      <a:txBody>
                        <a:bodyPr/>
                        <a:lstStyle/>
                        <a:p>
                          <a:pPr algn="ctr"/>
                          <a:r>
                            <a:rPr lang="es-ES"/>
                            <a:t>-1.006e-09</a:t>
                          </a:r>
                        </a:p>
                      </a:txBody>
                      <a:tcPr anchor="ctr"/>
                    </a:tc>
                    <a:tc>
                      <a:txBody>
                        <a:bodyPr/>
                        <a:lstStyle/>
                        <a:p>
                          <a:pPr algn="ctr"/>
                          <a:r>
                            <a:rPr lang="es-ES"/>
                            <a:t>-1.59e-09</a:t>
                          </a:r>
                        </a:p>
                      </a:txBody>
                      <a:tcPr anchor="ctr"/>
                    </a:tc>
                    <a:tc>
                      <a:txBody>
                        <a:bodyPr/>
                        <a:lstStyle/>
                        <a:p>
                          <a:pPr algn="ctr"/>
                          <a:r>
                            <a:rPr lang="es-ES"/>
                            <a:t>-9.889e-10</a:t>
                          </a:r>
                        </a:p>
                      </a:txBody>
                      <a:tcPr anchor="ctr"/>
                    </a:tc>
                    <a:tc>
                      <a:txBody>
                        <a:bodyPr/>
                        <a:lstStyle/>
                        <a:p>
                          <a:pPr algn="ctr"/>
                          <a:r>
                            <a:rPr lang="es-ES" dirty="0"/>
                            <a:t>1.529e-09</a:t>
                          </a:r>
                        </a:p>
                      </a:txBody>
                      <a:tcPr anchor="ctr"/>
                    </a:tc>
                    <a:extLst>
                      <a:ext uri="{0D108BD9-81ED-4DB2-BD59-A6C34878D82A}">
                        <a16:rowId xmlns:a16="http://schemas.microsoft.com/office/drawing/2014/main" val="3787585230"/>
                      </a:ext>
                    </a:extLst>
                  </a:tr>
                </a:tbl>
              </a:graphicData>
            </a:graphic>
          </p:graphicFrame>
        </mc:Choice>
        <mc:Fallback xmlns="">
          <p:graphicFrame>
            <p:nvGraphicFramePr>
              <p:cNvPr id="4" name="Tabla 3">
                <a:extLst>
                  <a:ext uri="{FF2B5EF4-FFF2-40B4-BE49-F238E27FC236}">
                    <a16:creationId xmlns:a16="http://schemas.microsoft.com/office/drawing/2014/main" id="{EBA3E71C-1AF6-5969-911C-949A328B93D8}"/>
                  </a:ext>
                </a:extLst>
              </p:cNvPr>
              <p:cNvGraphicFramePr>
                <a:graphicFrameLocks noGrp="1"/>
              </p:cNvGraphicFramePr>
              <p:nvPr>
                <p:extLst>
                  <p:ext uri="{D42A27DB-BD31-4B8C-83A1-F6EECF244321}">
                    <p14:modId xmlns:p14="http://schemas.microsoft.com/office/powerpoint/2010/main" val="2215810836"/>
                  </p:ext>
                </p:extLst>
              </p:nvPr>
            </p:nvGraphicFramePr>
            <p:xfrm>
              <a:off x="1115705" y="1460260"/>
              <a:ext cx="10134600" cy="2665492"/>
            </p:xfrm>
            <a:graphic>
              <a:graphicData uri="http://schemas.openxmlformats.org/drawingml/2006/table">
                <a:tbl>
                  <a:tblPr firstRow="1" bandRow="1">
                    <a:tableStyleId>{21E4AEA4-8DFA-4A89-87EB-49C32662AFE0}</a:tableStyleId>
                  </a:tblPr>
                  <a:tblGrid>
                    <a:gridCol w="1551295">
                      <a:extLst>
                        <a:ext uri="{9D8B030D-6E8A-4147-A177-3AD203B41FA5}">
                          <a16:colId xmlns:a16="http://schemas.microsoft.com/office/drawing/2014/main" val="3893883782"/>
                        </a:ext>
                      </a:extLst>
                    </a:gridCol>
                    <a:gridCol w="2133600">
                      <a:extLst>
                        <a:ext uri="{9D8B030D-6E8A-4147-A177-3AD203B41FA5}">
                          <a16:colId xmlns:a16="http://schemas.microsoft.com/office/drawing/2014/main" val="3714792932"/>
                        </a:ext>
                      </a:extLst>
                    </a:gridCol>
                    <a:gridCol w="2133600">
                      <a:extLst>
                        <a:ext uri="{9D8B030D-6E8A-4147-A177-3AD203B41FA5}">
                          <a16:colId xmlns:a16="http://schemas.microsoft.com/office/drawing/2014/main" val="2384085912"/>
                        </a:ext>
                      </a:extLst>
                    </a:gridCol>
                    <a:gridCol w="2133600">
                      <a:extLst>
                        <a:ext uri="{9D8B030D-6E8A-4147-A177-3AD203B41FA5}">
                          <a16:colId xmlns:a16="http://schemas.microsoft.com/office/drawing/2014/main" val="603494867"/>
                        </a:ext>
                      </a:extLst>
                    </a:gridCol>
                    <a:gridCol w="2182505">
                      <a:extLst>
                        <a:ext uri="{9D8B030D-6E8A-4147-A177-3AD203B41FA5}">
                          <a16:colId xmlns:a16="http://schemas.microsoft.com/office/drawing/2014/main" val="1787915585"/>
                        </a:ext>
                      </a:extLst>
                    </a:gridCol>
                  </a:tblGrid>
                  <a:tr h="365760">
                    <a:tc rowSpan="2">
                      <a:txBody>
                        <a:bodyPr/>
                        <a:lstStyle/>
                        <a:p>
                          <a:pPr algn="ctr"/>
                          <a:endParaRPr lang="es-ES" dirty="0"/>
                        </a:p>
                      </a:txBody>
                      <a:tcPr anchor="ctr"/>
                    </a:tc>
                    <a:tc gridSpan="2">
                      <a:txBody>
                        <a:bodyPr/>
                        <a:lstStyle/>
                        <a:p>
                          <a:pPr algn="ctr"/>
                          <a:r>
                            <a:rPr lang="es-ES" b="1" dirty="0"/>
                            <a:t>GUÍA DE ONDA TIPO DEEP</a:t>
                          </a:r>
                        </a:p>
                      </a:txBody>
                      <a:tcPr anchor="ctr"/>
                    </a:tc>
                    <a:tc hMerge="1">
                      <a:txBody>
                        <a:bodyPr/>
                        <a:lstStyle/>
                        <a:p>
                          <a:pPr algn="ctr"/>
                          <a:endParaRPr lang="es-ES" dirty="0"/>
                        </a:p>
                      </a:txBody>
                      <a:tcPr/>
                    </a:tc>
                    <a:tc gridSpan="2">
                      <a:txBody>
                        <a:bodyPr/>
                        <a:lstStyle/>
                        <a:p>
                          <a:pPr algn="ctr"/>
                          <a:r>
                            <a:rPr lang="es-ES" b="1" dirty="0"/>
                            <a:t>GUÍA DE ONDA TIPO SHALLOW</a:t>
                          </a:r>
                        </a:p>
                      </a:txBody>
                      <a:tcPr anchor="ctr"/>
                    </a:tc>
                    <a:tc hMerge="1">
                      <a:txBody>
                        <a:bodyPr/>
                        <a:lstStyle/>
                        <a:p>
                          <a:pPr algn="ctr"/>
                          <a:endParaRPr lang="es-ES" dirty="0"/>
                        </a:p>
                      </a:txBody>
                      <a:tcPr/>
                    </a:tc>
                    <a:extLst>
                      <a:ext uri="{0D108BD9-81ED-4DB2-BD59-A6C34878D82A}">
                        <a16:rowId xmlns:a16="http://schemas.microsoft.com/office/drawing/2014/main" val="1154840119"/>
                      </a:ext>
                    </a:extLst>
                  </a:tr>
                  <a:tr h="365760">
                    <a:tc vMerge="1">
                      <a:txBody>
                        <a:bodyPr/>
                        <a:lstStyle/>
                        <a:p>
                          <a:pPr algn="ctr"/>
                          <a:endParaRPr lang="es-ES" dirty="0"/>
                        </a:p>
                      </a:txBody>
                      <a:tcPr/>
                    </a:tc>
                    <a:tc>
                      <a:txBody>
                        <a:bodyPr/>
                        <a:lstStyle/>
                        <a:p>
                          <a:pPr algn="ctr"/>
                          <a:r>
                            <a:rPr lang="es-ES" b="1" dirty="0"/>
                            <a:t>TE MODO 0</a:t>
                          </a:r>
                        </a:p>
                      </a:txBody>
                      <a:tcPr anchor="ctr"/>
                    </a:tc>
                    <a:tc>
                      <a:txBody>
                        <a:bodyPr/>
                        <a:lstStyle/>
                        <a:p>
                          <a:pPr algn="ctr"/>
                          <a:r>
                            <a:rPr lang="es-ES" b="1" dirty="0"/>
                            <a:t>TM MODO 1</a:t>
                          </a:r>
                        </a:p>
                      </a:txBody>
                      <a:tcPr anchor="ctr"/>
                    </a:tc>
                    <a:tc>
                      <a:txBody>
                        <a:bodyPr/>
                        <a:lstStyle/>
                        <a:p>
                          <a:pPr algn="ctr"/>
                          <a:r>
                            <a:rPr lang="es-ES" b="1" dirty="0"/>
                            <a:t>TE MODO 0</a:t>
                          </a:r>
                        </a:p>
                      </a:txBody>
                      <a:tcPr anchor="ctr"/>
                    </a:tc>
                    <a:tc>
                      <a:txBody>
                        <a:bodyPr/>
                        <a:lstStyle/>
                        <a:p>
                          <a:pPr algn="ctr"/>
                          <a:r>
                            <a:rPr lang="es-ES" b="1" dirty="0"/>
                            <a:t>TM MODO 1</a:t>
                          </a:r>
                        </a:p>
                      </a:txBody>
                      <a:tcPr anchor="ctr"/>
                    </a:tc>
                    <a:extLst>
                      <a:ext uri="{0D108BD9-81ED-4DB2-BD59-A6C34878D82A}">
                        <a16:rowId xmlns:a16="http://schemas.microsoft.com/office/drawing/2014/main" val="3887036587"/>
                      </a:ext>
                    </a:extLst>
                  </a:tr>
                  <a:tr h="640080">
                    <a:tc>
                      <a:txBody>
                        <a:bodyPr/>
                        <a:lstStyle/>
                        <a:p>
                          <a:pPr algn="ctr"/>
                          <a:r>
                            <a:rPr lang="es-ES" dirty="0"/>
                            <a:t>POLINOMIO</a:t>
                          </a:r>
                        </a:p>
                        <a:p>
                          <a:pPr algn="ctr"/>
                          <a:r>
                            <a:rPr lang="es-ES" dirty="0"/>
                            <a:t>[n1 n2 n3]</a:t>
                          </a:r>
                        </a:p>
                      </a:txBody>
                      <a:tcPr anchor="ctr"/>
                    </a:tc>
                    <a:tc>
                      <a:txBody>
                        <a:bodyPr/>
                        <a:lstStyle/>
                        <a:p>
                          <a:pPr algn="ctr"/>
                          <a:r>
                            <a:rPr lang="es-ES" dirty="0"/>
                            <a:t>[1.605 -0.216 0.097]</a:t>
                          </a:r>
                        </a:p>
                      </a:txBody>
                      <a:tcPr anchor="ctr"/>
                    </a:tc>
                    <a:tc>
                      <a:txBody>
                        <a:bodyPr/>
                        <a:lstStyle/>
                        <a:p>
                          <a:pPr algn="ctr"/>
                          <a:r>
                            <a:rPr lang="es-ES" dirty="0"/>
                            <a:t>[1.527 -0.158 0.154]</a:t>
                          </a:r>
                        </a:p>
                      </a:txBody>
                      <a:tcPr anchor="ctr"/>
                    </a:tc>
                    <a:tc>
                      <a:txBody>
                        <a:bodyPr/>
                        <a:lstStyle/>
                        <a:p>
                          <a:pPr algn="ctr"/>
                          <a:r>
                            <a:rPr lang="es-ES" dirty="0"/>
                            <a:t>[1.624 -0.188 0.096]</a:t>
                          </a:r>
                        </a:p>
                      </a:txBody>
                      <a:tcPr anchor="ctr"/>
                    </a:tc>
                    <a:tc>
                      <a:txBody>
                        <a:bodyPr/>
                        <a:lstStyle/>
                        <a:p>
                          <a:pPr algn="ctr"/>
                          <a:r>
                            <a:rPr lang="es-ES" dirty="0"/>
                            <a:t>[1.542 -0.133 0.148]</a:t>
                          </a:r>
                        </a:p>
                      </a:txBody>
                      <a:tcPr anchor="ctr"/>
                    </a:tc>
                    <a:extLst>
                      <a:ext uri="{0D108BD9-81ED-4DB2-BD59-A6C34878D82A}">
                        <a16:rowId xmlns:a16="http://schemas.microsoft.com/office/drawing/2014/main" val="512193831"/>
                      </a:ext>
                    </a:extLst>
                  </a:tr>
                  <a:tr h="400877">
                    <a:tc>
                      <a:txBody>
                        <a:bodyPr/>
                        <a:lstStyle/>
                        <a:p>
                          <a:endParaRPr lang="es-ES"/>
                        </a:p>
                      </a:txBody>
                      <a:tcPr anchor="ctr">
                        <a:blipFill>
                          <a:blip r:embed="rId5"/>
                          <a:stretch>
                            <a:fillRect l="-784" t="-348485" r="-553725" b="-233333"/>
                          </a:stretch>
                        </a:blipFill>
                      </a:tcPr>
                    </a:tc>
                    <a:tc>
                      <a:txBody>
                        <a:bodyPr/>
                        <a:lstStyle/>
                        <a:p>
                          <a:pPr algn="ctr"/>
                          <a:r>
                            <a:rPr lang="es-ES" dirty="0"/>
                            <a:t>1.605</a:t>
                          </a:r>
                        </a:p>
                      </a:txBody>
                      <a:tcPr anchor="ctr"/>
                    </a:tc>
                    <a:tc>
                      <a:txBody>
                        <a:bodyPr/>
                        <a:lstStyle/>
                        <a:p>
                          <a:pPr algn="ctr"/>
                          <a:r>
                            <a:rPr lang="es-ES" dirty="0"/>
                            <a:t>1.527</a:t>
                          </a:r>
                        </a:p>
                      </a:txBody>
                      <a:tcPr anchor="ctr"/>
                    </a:tc>
                    <a:tc>
                      <a:txBody>
                        <a:bodyPr/>
                        <a:lstStyle/>
                        <a:p>
                          <a:pPr algn="ctr"/>
                          <a:r>
                            <a:rPr lang="es-ES" dirty="0"/>
                            <a:t>1.624</a:t>
                          </a:r>
                        </a:p>
                      </a:txBody>
                      <a:tcPr anchor="ctr"/>
                    </a:tc>
                    <a:tc>
                      <a:txBody>
                        <a:bodyPr/>
                        <a:lstStyle/>
                        <a:p>
                          <a:pPr algn="ctr"/>
                          <a:r>
                            <a:rPr lang="es-ES" dirty="0"/>
                            <a:t>1.542</a:t>
                          </a:r>
                        </a:p>
                      </a:txBody>
                      <a:tcPr anchor="ctr"/>
                    </a:tc>
                    <a:extLst>
                      <a:ext uri="{0D108BD9-81ED-4DB2-BD59-A6C34878D82A}">
                        <a16:rowId xmlns:a16="http://schemas.microsoft.com/office/drawing/2014/main" val="516489084"/>
                      </a:ext>
                    </a:extLst>
                  </a:tr>
                  <a:tr h="416117">
                    <a:tc>
                      <a:txBody>
                        <a:bodyPr/>
                        <a:lstStyle/>
                        <a:p>
                          <a:endParaRPr lang="es-ES"/>
                        </a:p>
                      </a:txBody>
                      <a:tcPr anchor="ctr">
                        <a:blipFill>
                          <a:blip r:embed="rId5"/>
                          <a:stretch>
                            <a:fillRect l="-784" t="-428986" r="-553725" b="-123188"/>
                          </a:stretch>
                        </a:blipFill>
                      </a:tcPr>
                    </a:tc>
                    <a:tc>
                      <a:txBody>
                        <a:bodyPr/>
                        <a:lstStyle/>
                        <a:p>
                          <a:pPr algn="ctr"/>
                          <a:r>
                            <a:rPr lang="es-ES" dirty="0"/>
                            <a:t>1.94</a:t>
                          </a:r>
                        </a:p>
                      </a:txBody>
                      <a:tcPr anchor="ctr"/>
                    </a:tc>
                    <a:tc>
                      <a:txBody>
                        <a:bodyPr/>
                        <a:lstStyle/>
                        <a:p>
                          <a:pPr algn="ctr"/>
                          <a:r>
                            <a:rPr lang="es-ES" dirty="0"/>
                            <a:t>1.772</a:t>
                          </a:r>
                        </a:p>
                      </a:txBody>
                      <a:tcPr anchor="ctr"/>
                    </a:tc>
                    <a:tc>
                      <a:txBody>
                        <a:bodyPr/>
                        <a:lstStyle/>
                        <a:p>
                          <a:pPr algn="ctr"/>
                          <a:r>
                            <a:rPr lang="es-ES" dirty="0"/>
                            <a:t>1.916</a:t>
                          </a:r>
                        </a:p>
                      </a:txBody>
                      <a:tcPr anchor="ctr"/>
                    </a:tc>
                    <a:tc>
                      <a:txBody>
                        <a:bodyPr/>
                        <a:lstStyle/>
                        <a:p>
                          <a:pPr algn="ctr"/>
                          <a:r>
                            <a:rPr lang="es-ES" dirty="0"/>
                            <a:t>1.747</a:t>
                          </a:r>
                        </a:p>
                      </a:txBody>
                      <a:tcPr anchor="ctr"/>
                    </a:tc>
                    <a:extLst>
                      <a:ext uri="{0D108BD9-81ED-4DB2-BD59-A6C34878D82A}">
                        <a16:rowId xmlns:a16="http://schemas.microsoft.com/office/drawing/2014/main" val="4192919050"/>
                      </a:ext>
                    </a:extLst>
                  </a:tr>
                  <a:tr h="476898">
                    <a:tc>
                      <a:txBody>
                        <a:bodyPr/>
                        <a:lstStyle/>
                        <a:p>
                          <a:pPr algn="ctr"/>
                          <a:r>
                            <a:rPr lang="es-ES" dirty="0"/>
                            <a:t>D</a:t>
                          </a:r>
                        </a:p>
                      </a:txBody>
                      <a:tcPr anchor="ctr"/>
                    </a:tc>
                    <a:tc>
                      <a:txBody>
                        <a:bodyPr/>
                        <a:lstStyle/>
                        <a:p>
                          <a:pPr algn="ctr"/>
                          <a:r>
                            <a:rPr lang="es-ES" dirty="0"/>
                            <a:t>-1.006e-09</a:t>
                          </a:r>
                        </a:p>
                      </a:txBody>
                      <a:tcPr anchor="ctr"/>
                    </a:tc>
                    <a:tc>
                      <a:txBody>
                        <a:bodyPr/>
                        <a:lstStyle/>
                        <a:p>
                          <a:pPr algn="ctr"/>
                          <a:r>
                            <a:rPr lang="es-ES" dirty="0"/>
                            <a:t>-1.59e-09</a:t>
                          </a:r>
                        </a:p>
                      </a:txBody>
                      <a:tcPr anchor="ctr"/>
                    </a:tc>
                    <a:tc>
                      <a:txBody>
                        <a:bodyPr/>
                        <a:lstStyle/>
                        <a:p>
                          <a:pPr algn="ctr"/>
                          <a:r>
                            <a:rPr lang="es-ES" dirty="0"/>
                            <a:t>-9.889e-10</a:t>
                          </a:r>
                        </a:p>
                      </a:txBody>
                      <a:tcPr anchor="ctr"/>
                    </a:tc>
                    <a:tc>
                      <a:txBody>
                        <a:bodyPr/>
                        <a:lstStyle/>
                        <a:p>
                          <a:pPr algn="ctr"/>
                          <a:r>
                            <a:rPr lang="es-ES" dirty="0"/>
                            <a:t>1.529e-09</a:t>
                          </a:r>
                        </a:p>
                      </a:txBody>
                      <a:tcPr anchor="ctr"/>
                    </a:tc>
                    <a:extLst>
                      <a:ext uri="{0D108BD9-81ED-4DB2-BD59-A6C34878D82A}">
                        <a16:rowId xmlns:a16="http://schemas.microsoft.com/office/drawing/2014/main" val="3787585230"/>
                      </a:ext>
                    </a:extLst>
                  </a:tr>
                </a:tbl>
              </a:graphicData>
            </a:graphic>
          </p:graphicFrame>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7B41EE5-A798-83A3-0159-8D6A4A75DD25}"/>
                  </a:ext>
                </a:extLst>
              </p:cNvPr>
              <p:cNvSpPr txBox="1"/>
              <p:nvPr/>
            </p:nvSpPr>
            <p:spPr>
              <a:xfrm>
                <a:off x="583734" y="4172230"/>
                <a:ext cx="11198542" cy="2123658"/>
              </a:xfrm>
              <a:prstGeom prst="rect">
                <a:avLst/>
              </a:prstGeom>
              <a:solidFill>
                <a:schemeClr val="bg1">
                  <a:lumMod val="95000"/>
                </a:schemeClr>
              </a:solidFill>
              <a:ln w="28575">
                <a:solidFill>
                  <a:srgbClr val="E0700D"/>
                </a:solidFill>
              </a:ln>
            </p:spPr>
            <p:txBody>
              <a:bodyPr wrap="square" rtlCol="0">
                <a:spAutoFit/>
              </a:bodyPr>
              <a:lstStyle/>
              <a:p>
                <a:r>
                  <a:rPr lang="es-ES" sz="1200" dirty="0">
                    <a:latin typeface="Arial" panose="020B0604020202020204" pitchFamily="34" charset="0"/>
                    <a:cs typeface="Arial" panose="020B0604020202020204" pitchFamily="34" charset="0"/>
                  </a:rPr>
                  <a:t>Si analizamos los valores obtenidos, podemos extraer varias conclusiones sobre los coeficientes del polinomio ajustado. El coeficiente n₁ corresponde al índice efectivo de la guía de onda en </a:t>
                </a:r>
                <a14:m>
                  <m:oMath xmlns:m="http://schemas.openxmlformats.org/officeDocument/2006/math">
                    <m:sSub>
                      <m:sSubPr>
                        <m:ctrlPr>
                          <a:rPr lang="ar-AE" sz="1200" i="1">
                            <a:latin typeface="Cambria Math" panose="02040503050406030204" pitchFamily="18" charset="0"/>
                          </a:rPr>
                        </m:ctrlPr>
                      </m:sSubPr>
                      <m:e>
                        <m:r>
                          <a:rPr lang="ar-AE" sz="1200" b="0" i="1">
                            <a:latin typeface="Cambria Math" panose="02040503050406030204" pitchFamily="18" charset="0"/>
                          </a:rPr>
                          <m:t>𝜆</m:t>
                        </m:r>
                      </m:e>
                      <m:sub>
                        <m:r>
                          <a:rPr lang="ar-AE" sz="1200" b="0" i="1">
                            <a:latin typeface="Cambria Math" panose="02040503050406030204" pitchFamily="18" charset="0"/>
                          </a:rPr>
                          <m:t>0</m:t>
                        </m:r>
                      </m:sub>
                    </m:sSub>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y coincide con el valor calculado, lo que confirma que el ajuste es correcto. El coeficiente n₂ representa la pendiente de la recta y su valor negativo tiene sentido porque la gráfica es decreciente (el índice efectivo disminuye al </a:t>
                </a:r>
                <a:r>
                  <a:rPr lang="es-ES" sz="1200" dirty="0" err="1">
                    <a:latin typeface="Arial" panose="020B0604020202020204" pitchFamily="34" charset="0"/>
                    <a:cs typeface="Arial" panose="020B0604020202020204" pitchFamily="34" charset="0"/>
                  </a:rPr>
                  <a:t>aµmentar</a:t>
                </a:r>
                <a:r>
                  <a:rPr lang="es-ES" sz="1200" dirty="0">
                    <a:latin typeface="Arial" panose="020B0604020202020204" pitchFamily="34" charset="0"/>
                    <a:cs typeface="Arial" panose="020B0604020202020204" pitchFamily="34" charset="0"/>
                  </a:rPr>
                  <a:t> la longitud de onda). El coeficiente n₃ está relacionado con la curvatura y, como era esperable, es pequeño.</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cuanto al índice de grupo, cuando la pendiente es negativa se </a:t>
                </a:r>
                <a:r>
                  <a:rPr lang="es-ES" sz="1200" dirty="0" err="1">
                    <a:latin typeface="Arial" panose="020B0604020202020204" pitchFamily="34" charset="0"/>
                    <a:cs typeface="Arial" panose="020B0604020202020204" pitchFamily="34" charset="0"/>
                  </a:rPr>
                  <a:t>cµmple</a:t>
                </a:r>
                <a:r>
                  <a:rPr lang="es-ES" sz="1200" dirty="0">
                    <a:latin typeface="Arial" panose="020B0604020202020204" pitchFamily="34" charset="0"/>
                    <a:cs typeface="Arial" panose="020B0604020202020204" pitchFamily="34" charset="0"/>
                  </a:rPr>
                  <a:t> que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&lt; </a:t>
                </a:r>
                <a:r>
                  <a:rPr lang="es-ES" sz="1200" dirty="0" err="1">
                    <a:latin typeface="Arial" panose="020B0604020202020204" pitchFamily="34" charset="0"/>
                    <a:cs typeface="Arial" panose="020B0604020202020204" pitchFamily="34" charset="0"/>
                  </a:rPr>
                  <a:t>ngrupo</a:t>
                </a:r>
                <a:r>
                  <a:rPr lang="es-ES" sz="1200" dirty="0">
                    <a:latin typeface="Arial" panose="020B0604020202020204" pitchFamily="34" charset="0"/>
                    <a:cs typeface="Arial" panose="020B0604020202020204" pitchFamily="34" charset="0"/>
                  </a:rPr>
                  <a:t> pero, si no hubiera variación con la longitud de onda, ambos índices coincidirían. Cuanto más pronunciada sea la pendiente negativa, mayor será la diferencia entre ambos valores y más cuantificación en la variabilidad de la longitud de onda habrá en nuestra guía.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Respecto a la dispersión (D), si es negativa estamos en régimen de dispersión normal y el pulso se ensancha en el dominio temporal, como es el caso. Si fuese positiva, habría compresión en el dominio temporal</a:t>
                </a:r>
                <a:endParaRPr lang="en-US" sz="1200" dirty="0">
                  <a:latin typeface="Arial" panose="020B0604020202020204" pitchFamily="34" charset="0"/>
                  <a:cs typeface="Arial" panose="020B0604020202020204" pitchFamily="34" charset="0"/>
                </a:endParaRPr>
              </a:p>
            </p:txBody>
          </p:sp>
        </mc:Choice>
        <mc:Fallback xmlns="">
          <p:sp>
            <p:nvSpPr>
              <p:cNvPr id="9" name="CuadroTexto 8">
                <a:extLst>
                  <a:ext uri="{FF2B5EF4-FFF2-40B4-BE49-F238E27FC236}">
                    <a16:creationId xmlns:a16="http://schemas.microsoft.com/office/drawing/2014/main" id="{47B41EE5-A798-83A3-0159-8D6A4A75DD25}"/>
                  </a:ext>
                </a:extLst>
              </p:cNvPr>
              <p:cNvSpPr txBox="1">
                <a:spLocks noRot="1" noChangeAspect="1" noMove="1" noResize="1" noEditPoints="1" noAdjustHandles="1" noChangeArrowheads="1" noChangeShapeType="1" noTextEdit="1"/>
              </p:cNvSpPr>
              <p:nvPr/>
            </p:nvSpPr>
            <p:spPr>
              <a:xfrm>
                <a:off x="583734" y="4172230"/>
                <a:ext cx="11198542" cy="2123658"/>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1284409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w=1.2µm   - </a:t>
            </a:r>
            <a:r>
              <a:rPr lang="en-US" dirty="0"/>
              <a:t>Shallow</a:t>
            </a:r>
            <a:r>
              <a:rPr lang="en-US" b="0" dirty="0"/>
              <a:t> waveguide, core h=300nm, slab h=150 nm, w = 1.2µm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521" y="4794364"/>
                <a:ext cx="11198542"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Ambas </a:t>
                </a:r>
                <a:r>
                  <a:rPr lang="en-US" sz="1200" dirty="0" err="1">
                    <a:latin typeface="Arial" panose="020B0604020202020204" pitchFamily="34" charset="0"/>
                    <a:cs typeface="Arial" panose="020B0604020202020204" pitchFamily="34" charset="0"/>
                  </a:rPr>
                  <a:t>gráficas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muestran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a:t>
                </a:r>
                <a14:m>
                  <m:oMath xmlns:m="http://schemas.openxmlformats.org/officeDocument/2006/math">
                    <m:r>
                      <m:rPr>
                        <m:nor/>
                      </m:rPr>
                      <a:rPr lang="el-GR" sz="1200" dirty="0"/>
                      <m:t>λ</m:t>
                    </m:r>
                    <m:r>
                      <m:rPr>
                        <m:nor/>
                      </m:rPr>
                      <a:rPr lang="es-ES" sz="1200" b="0" i="0" dirty="0" smtClean="0"/>
                      <m:t>−</m:t>
                    </m:r>
                    <m:r>
                      <m:rPr>
                        <m:nor/>
                      </m:rPr>
                      <a:rPr lang="el-GR" sz="1200" dirty="0"/>
                      <m:t>λ</m:t>
                    </m:r>
                    <m:r>
                      <m:rPr>
                        <m:nor/>
                      </m:rPr>
                      <a:rPr lang="es-ES" sz="1200" b="0" i="0" dirty="0" smtClean="0"/>
                      <m:t>0 , </m:t>
                    </m:r>
                  </m:oMath>
                </a14:m>
                <a:r>
                  <a:rPr lang="en-US" sz="1200" dirty="0">
                    <a:latin typeface="Arial" panose="020B0604020202020204" pitchFamily="34" charset="0"/>
                    <a:cs typeface="Arial" panose="020B0604020202020204" pitchFamily="34" charset="0"/>
                  </a:rPr>
                  <a:t>tanto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“Shallow”. En </a:t>
                </a:r>
                <a:r>
                  <a:rPr lang="en-US" sz="1200" dirty="0" err="1">
                    <a:latin typeface="Arial" panose="020B0604020202020204" pitchFamily="34" charset="0"/>
                    <a:cs typeface="Arial" panose="020B0604020202020204" pitchFamily="34" charset="0"/>
                  </a:rPr>
                  <a:t>ellas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resultado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polinomio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mediante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linea</a:t>
                </a:r>
                <a:r>
                  <a:rPr lang="en-US" sz="1200" dirty="0">
                    <a:latin typeface="Arial" panose="020B0604020202020204" pitchFamily="34" charset="0"/>
                    <a:cs typeface="Arial" panose="020B0604020202020204" pitchFamily="34" charset="0"/>
                  </a:rPr>
                  <a:t> continua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correspondientes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puntos. </a:t>
                </a:r>
              </a:p>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comprobar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ajsute</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correcto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los puntos coinciden prácticamente con la recta obtenida del polinomio. Esto indica que ambos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pendiente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carácter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negativo</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implica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aµmentar</a:t>
                </a:r>
                <a:r>
                  <a:rPr lang="en-US" sz="1200" dirty="0">
                    <a:latin typeface="Arial" panose="020B0604020202020204" pitchFamily="34" charset="0"/>
                    <a:cs typeface="Arial" panose="020B0604020202020204" pitchFamily="34" charset="0"/>
                  </a:rPr>
                  <a:t> la longitude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pendiente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decreciente</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la </a:t>
                </a:r>
                <a:r>
                  <a:rPr lang="en-US" sz="1200" dirty="0" err="1">
                    <a:latin typeface="Arial" panose="020B0604020202020204" pitchFamily="34" charset="0"/>
                    <a:cs typeface="Arial" panose="020B0604020202020204" pitchFamily="34" charset="0"/>
                  </a:rPr>
                  <a:t>gáfica</a:t>
                </a:r>
                <a:r>
                  <a:rPr lang="en-US" sz="1200" dirty="0">
                    <a:latin typeface="Arial" panose="020B0604020202020204" pitchFamily="34" charset="0"/>
                    <a:cs typeface="Arial" panose="020B0604020202020204" pitchFamily="34" charset="0"/>
                  </a:rPr>
                  <a:t> fuera un </a:t>
                </a:r>
                <a:r>
                  <a:rPr lang="en-US" sz="1200" dirty="0" err="1">
                    <a:latin typeface="Arial" panose="020B0604020202020204" pitchFamily="34" charset="0"/>
                    <a:cs typeface="Arial" panose="020B0604020202020204" pitchFamily="34" charset="0"/>
                  </a:rPr>
                  <a:t>línea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constante</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pendiente</a:t>
                </a:r>
                <a:r>
                  <a:rPr lang="en-US" sz="1200" dirty="0">
                    <a:latin typeface="Arial" panose="020B0604020202020204" pitchFamily="34" charset="0"/>
                    <a:cs typeface="Arial" panose="020B0604020202020204" pitchFamily="34" charset="0"/>
                  </a:rPr>
                  <a:t> 0, </a:t>
                </a:r>
                <a:r>
                  <a:rPr lang="en-US" sz="1200" dirty="0" err="1">
                    <a:latin typeface="Arial" panose="020B0604020202020204" pitchFamily="34" charset="0"/>
                    <a:cs typeface="Arial" panose="020B0604020202020204" pitchFamily="34" charset="0"/>
                  </a:rPr>
                  <a:t>implicaría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término</a:t>
                </a:r>
                <a:r>
                  <a:rPr lang="en-US" sz="1200" dirty="0">
                    <a:latin typeface="Arial" panose="020B0604020202020204" pitchFamily="34" charset="0"/>
                    <a:cs typeface="Arial" panose="020B0604020202020204" pitchFamily="34" charset="0"/>
                  </a:rPr>
                  <a:t> n2 es </a:t>
                </a:r>
                <a:r>
                  <a:rPr lang="en-US" sz="1200" dirty="0" err="1">
                    <a:latin typeface="Arial" panose="020B0604020202020204" pitchFamily="34" charset="0"/>
                    <a:cs typeface="Arial" panose="020B0604020202020204" pitchFamily="34" charset="0"/>
                  </a:rPr>
                  <a:t>igual</a:t>
                </a:r>
                <a:r>
                  <a:rPr lang="en-US" sz="1200" dirty="0">
                    <a:latin typeface="Arial" panose="020B0604020202020204" pitchFamily="34" charset="0"/>
                    <a:cs typeface="Arial" panose="020B0604020202020204" pitchFamily="34" charset="0"/>
                  </a:rPr>
                  <a:t> a 0. En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dependeria</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coincidiría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grupo</a:t>
                </a:r>
                <a:r>
                  <a:rPr lang="en-US" sz="1200" dirty="0">
                    <a:latin typeface="Arial" panose="020B0604020202020204" pitchFamily="34" charset="0"/>
                    <a:cs typeface="Arial" panose="020B0604020202020204" pitchFamily="34" charset="0"/>
                  </a:rPr>
                  <a:t>.</a:t>
                </a: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521" y="4794364"/>
                <a:ext cx="11198542" cy="1569660"/>
              </a:xfrm>
              <a:prstGeom prst="rect">
                <a:avLst/>
              </a:prstGeom>
              <a:blipFill>
                <a:blip r:embed="rId5"/>
                <a:stretch>
                  <a:fillRect b="-380"/>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521" y="1405367"/>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504" y="1405367"/>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descr="Gráfico, Gráfico de líneas&#10;&#10;El contenido generado por IA puede ser incorrecto.">
            <a:extLst>
              <a:ext uri="{FF2B5EF4-FFF2-40B4-BE49-F238E27FC236}">
                <a16:creationId xmlns:a16="http://schemas.microsoft.com/office/drawing/2014/main" id="{529B6E5A-DFF5-361D-6CA9-1DA8E0F251F4}"/>
              </a:ext>
            </a:extLst>
          </p:cNvPr>
          <p:cNvPicPr>
            <a:picLocks noChangeAspect="1"/>
          </p:cNvPicPr>
          <p:nvPr/>
        </p:nvPicPr>
        <p:blipFill>
          <a:blip r:embed="rId6"/>
          <a:stretch>
            <a:fillRect/>
          </a:stretch>
        </p:blipFill>
        <p:spPr>
          <a:xfrm>
            <a:off x="1352364" y="1488336"/>
            <a:ext cx="4000871" cy="3160410"/>
          </a:xfrm>
          <a:prstGeom prst="rect">
            <a:avLst/>
          </a:prstGeom>
        </p:spPr>
      </p:pic>
      <p:pic>
        <p:nvPicPr>
          <p:cNvPr id="17" name="Imagen 16" descr="Gráfico, Gráfico de líneas&#10;&#10;El contenido generado por IA puede ser incorrecto.">
            <a:extLst>
              <a:ext uri="{FF2B5EF4-FFF2-40B4-BE49-F238E27FC236}">
                <a16:creationId xmlns:a16="http://schemas.microsoft.com/office/drawing/2014/main" id="{36B320DD-F01D-23A2-54A8-966E3ACDEAB3}"/>
              </a:ext>
            </a:extLst>
          </p:cNvPr>
          <p:cNvPicPr>
            <a:picLocks noChangeAspect="1"/>
          </p:cNvPicPr>
          <p:nvPr/>
        </p:nvPicPr>
        <p:blipFill>
          <a:blip r:embed="rId7"/>
          <a:stretch>
            <a:fillRect/>
          </a:stretch>
        </p:blipFill>
        <p:spPr>
          <a:xfrm>
            <a:off x="7064347" y="1478176"/>
            <a:ext cx="4000871" cy="3160410"/>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5C04-1D2E-ED9E-F484-7FAB8078C3B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71F28D2-5DE7-DE6E-6B10-86EA3A73026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3600" dirty="0"/>
            </a:br>
            <a:r>
              <a:rPr lang="en-US" b="0" dirty="0"/>
              <a:t>Find  neff_TE0 for </a:t>
            </a:r>
            <a:r>
              <a:rPr lang="en-US" b="0" dirty="0" err="1"/>
              <a:t>wvl</a:t>
            </a:r>
            <a:r>
              <a:rPr lang="en-US" b="0" dirty="0"/>
              <a:t> 1.55 µm, width 1.2 µm for R=25,50,75,100, 125,150 µm</a:t>
            </a:r>
            <a:endParaRPr sz="2500" b="0" dirty="0">
              <a:latin typeface="+mj-lt"/>
              <a:cs typeface="Lucida Sans"/>
            </a:endParaRPr>
          </a:p>
        </p:txBody>
      </p:sp>
      <p:pic>
        <p:nvPicPr>
          <p:cNvPr id="83" name="Gráfico 82">
            <a:extLst>
              <a:ext uri="{FF2B5EF4-FFF2-40B4-BE49-F238E27FC236}">
                <a16:creationId xmlns:a16="http://schemas.microsoft.com/office/drawing/2014/main" id="{8329F681-50A7-AB03-9461-BBFAEDA1FE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51C2C37-186D-36B2-6AD1-AAC2A377671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E7B845F-C757-5994-053A-4C091E204A15}"/>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5B0884B6-6432-A2F5-2E4B-AFDC777F318D}"/>
              </a:ext>
            </a:extLst>
          </p:cNvPr>
          <p:cNvSpPr txBox="1"/>
          <p:nvPr/>
        </p:nvSpPr>
        <p:spPr>
          <a:xfrm>
            <a:off x="6553200" y="1418372"/>
            <a:ext cx="5127010" cy="433965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Esta gráfica representa el comportamiento de guías de onda con curvatura.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una guía curva, el índice efectivo y el perfil de campo no coinciden con los de una guía recta. Cuando se conecta una guía recta con una curva aparece una primera fuente de pérdidas, debida al desajuste modal entre ambas guías. Parte de la energía del modo fundamental no se acopla correctamente y se pierde.</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realizar un barrido del radio de curvatura, se observa que al </a:t>
            </a:r>
            <a:r>
              <a:rPr lang="es-ES" sz="1200" dirty="0" err="1">
                <a:latin typeface="Arial" panose="020B0604020202020204" pitchFamily="34" charset="0"/>
                <a:cs typeface="Arial" panose="020B0604020202020204" pitchFamily="34" charset="0"/>
              </a:rPr>
              <a:t>aµmentar</a:t>
            </a:r>
            <a:r>
              <a:rPr lang="es-ES" sz="1200" dirty="0">
                <a:latin typeface="Arial" panose="020B0604020202020204" pitchFamily="34" charset="0"/>
                <a:cs typeface="Arial" panose="020B0604020202020204" pitchFamily="34" charset="0"/>
              </a:rPr>
              <a:t> el radio disminuyen las pérdidas por desajuste modal, ya que la guía curva se comporta cada vez más como una guía recta. </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No obstante, existe una segunda fuente de pérdidas, relacionada con las pérdidas de propagación en la curva, que dependen de la longitud del recorrido. Al </a:t>
            </a:r>
            <a:r>
              <a:rPr lang="es-ES" sz="1200" dirty="0" err="1">
                <a:latin typeface="Arial" panose="020B0604020202020204" pitchFamily="34" charset="0"/>
                <a:cs typeface="Arial" panose="020B0604020202020204" pitchFamily="34" charset="0"/>
              </a:rPr>
              <a:t>aµmentar</a:t>
            </a:r>
            <a:r>
              <a:rPr lang="es-ES" sz="1200" dirty="0">
                <a:latin typeface="Arial" panose="020B0604020202020204" pitchFamily="34" charset="0"/>
                <a:cs typeface="Arial" panose="020B0604020202020204" pitchFamily="34" charset="0"/>
              </a:rPr>
              <a:t> el radio de curvatura también </a:t>
            </a:r>
            <a:r>
              <a:rPr lang="es-ES" sz="1200" dirty="0" err="1">
                <a:latin typeface="Arial" panose="020B0604020202020204" pitchFamily="34" charset="0"/>
                <a:cs typeface="Arial" panose="020B0604020202020204" pitchFamily="34" charset="0"/>
              </a:rPr>
              <a:t>aµmenta</a:t>
            </a:r>
            <a:r>
              <a:rPr lang="es-ES" sz="1200" dirty="0">
                <a:latin typeface="Arial" panose="020B0604020202020204" pitchFamily="34" charset="0"/>
                <a:cs typeface="Arial" panose="020B0604020202020204" pitchFamily="34" charset="0"/>
              </a:rPr>
              <a:t> el perímetro de la trayectoria, por lo que estas pérdidas pueden incrementarse.</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Las pérdidas totales son el resultado de la </a:t>
            </a:r>
            <a:r>
              <a:rPr lang="es-ES" sz="1200" dirty="0" err="1">
                <a:latin typeface="Arial" panose="020B0604020202020204" pitchFamily="34" charset="0"/>
                <a:cs typeface="Arial" panose="020B0604020202020204" pitchFamily="34" charset="0"/>
              </a:rPr>
              <a:t>sµma</a:t>
            </a:r>
            <a:r>
              <a:rPr lang="es-ES" sz="1200" dirty="0">
                <a:latin typeface="Arial" panose="020B0604020202020204" pitchFamily="34" charset="0"/>
                <a:cs typeface="Arial" panose="020B0604020202020204" pitchFamily="34" charset="0"/>
              </a:rPr>
              <a:t> de ambas contribuciones: las pérdidas por desajuste modal y las pérdidas de propagación en la curva. Como se observa en la gráfica, existe un radio óptimo, aproximadamente entre 75 y 80 µm, en el que las pérdidas totales son mínimas.</a:t>
            </a:r>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0AC23144-0ACA-1D6A-FE71-4E408BC61684}"/>
              </a:ext>
            </a:extLst>
          </p:cNvPr>
          <p:cNvSpPr/>
          <p:nvPr/>
        </p:nvSpPr>
        <p:spPr>
          <a:xfrm>
            <a:off x="609442" y="1418373"/>
            <a:ext cx="5698226" cy="4339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B78CF02E-DC0D-14F4-29DE-5666AB3B7827}"/>
              </a:ext>
            </a:extLst>
          </p:cNvPr>
          <p:cNvPicPr>
            <a:picLocks noChangeAspect="1"/>
          </p:cNvPicPr>
          <p:nvPr/>
        </p:nvPicPr>
        <p:blipFill>
          <a:blip r:embed="rId5"/>
          <a:stretch>
            <a:fillRect/>
          </a:stretch>
        </p:blipFill>
        <p:spPr>
          <a:xfrm>
            <a:off x="685800" y="1539314"/>
            <a:ext cx="5187500" cy="4097765"/>
          </a:xfrm>
          <a:prstGeom prst="rect">
            <a:avLst/>
          </a:prstGeom>
        </p:spPr>
      </p:pic>
    </p:spTree>
    <p:extLst>
      <p:ext uri="{BB962C8B-B14F-4D97-AF65-F5344CB8AC3E}">
        <p14:creationId xmlns:p14="http://schemas.microsoft.com/office/powerpoint/2010/main" val="2806154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0BC6F-9CE8-1243-AAC1-BE7C70221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D6116A-EF77-32B1-17DA-0F361997733F}"/>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3600"/>
            </a:br>
            <a:r>
              <a:rPr lang="en-US" b="0"/>
              <a:t>Find  neff_TE0 for </a:t>
            </a:r>
            <a:r>
              <a:rPr lang="en-US" b="0" err="1"/>
              <a:t>wvl</a:t>
            </a:r>
            <a:r>
              <a:rPr lang="en-US" b="0"/>
              <a:t> 1.55 µm, width 1.2 µm for R=25,50,75,100, 125,150 µm</a:t>
            </a:r>
            <a:endParaRPr sz="2500" b="0">
              <a:latin typeface="+mj-lt"/>
              <a:cs typeface="Lucida Sans"/>
            </a:endParaRPr>
          </a:p>
        </p:txBody>
      </p:sp>
      <p:pic>
        <p:nvPicPr>
          <p:cNvPr id="83" name="Gráfico 82">
            <a:extLst>
              <a:ext uri="{FF2B5EF4-FFF2-40B4-BE49-F238E27FC236}">
                <a16:creationId xmlns:a16="http://schemas.microsoft.com/office/drawing/2014/main" id="{82F8AB81-971F-6D0C-2F36-4062AA046B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154C78C-B608-7BAE-BD14-9F176A1A984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D7BA3919-124C-D48B-15D4-328635F5117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AE2C993-4D0C-D8A7-BB7E-802BCD2BF4DF}"/>
              </a:ext>
            </a:extLst>
          </p:cNvPr>
          <p:cNvSpPr txBox="1"/>
          <p:nvPr/>
        </p:nvSpPr>
        <p:spPr>
          <a:xfrm>
            <a:off x="6553200" y="1418372"/>
            <a:ext cx="5127010" cy="433965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La gráfica muestra la variación del índice efectivo del modo TE0 cuando se modifica el radio de curvatura. Se observa que, para radios de curvatura pequeños, el índice efectivo presenta valores más altos. En particular, el valor de </a:t>
            </a:r>
            <a:r>
              <a:rPr lang="es-ES" sz="1200" dirty="0" err="1">
                <a:latin typeface="Arial" panose="020B0604020202020204" pitchFamily="34" charset="0"/>
                <a:cs typeface="Arial" panose="020B0604020202020204" pitchFamily="34" charset="0"/>
              </a:rPr>
              <a:t>neff</a:t>
            </a:r>
            <a:r>
              <a:rPr lang="es-ES" sz="1200" dirty="0">
                <a:latin typeface="Arial" panose="020B0604020202020204" pitchFamily="34" charset="0"/>
                <a:cs typeface="Arial" panose="020B0604020202020204" pitchFamily="34" charset="0"/>
              </a:rPr>
              <a:t> es mayor alrededor de 25 µm y disminuye de forma progresiva conforme </a:t>
            </a:r>
            <a:r>
              <a:rPr lang="es-ES" sz="1200" dirty="0" err="1">
                <a:latin typeface="Arial" panose="020B0604020202020204" pitchFamily="34" charset="0"/>
                <a:cs typeface="Arial" panose="020B0604020202020204" pitchFamily="34" charset="0"/>
              </a:rPr>
              <a:t>aµmenta</a:t>
            </a:r>
            <a:r>
              <a:rPr lang="es-ES" sz="1200" dirty="0">
                <a:latin typeface="Arial" panose="020B0604020202020204" pitchFamily="34" charset="0"/>
                <a:cs typeface="Arial" panose="020B0604020202020204" pitchFamily="34" charset="0"/>
              </a:rPr>
              <a:t> el radio. A partir de radios cercanos a 75–100 µm, el índice efectivo empieza a estabilizarse en torno a 1.6143–1.6144, mostrando variaciones muy pequeñas entre los distintos puntos.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Este comportamiento se debe a que la curvatura de la guía de onda influye en la distribución del campo electromagnético dentro de la estructura. Cuando la curvatura es más pronunciada (radios pequeños), el modo óptico se desplaza ligeramente hacia la parte exterior de la curva, lo que modifica el confinamiento del campo y provoca pequeñas variaciones en el índice efectivo. Por el contrario, cuando el radio de curvatura </a:t>
            </a:r>
            <a:r>
              <a:rPr lang="es-ES" sz="1200" dirty="0" err="1">
                <a:latin typeface="Arial" panose="020B0604020202020204" pitchFamily="34" charset="0"/>
                <a:cs typeface="Arial" panose="020B0604020202020204" pitchFamily="34" charset="0"/>
              </a:rPr>
              <a:t>aµmenta</a:t>
            </a:r>
            <a:r>
              <a:rPr lang="es-ES" sz="1200" dirty="0">
                <a:latin typeface="Arial" panose="020B0604020202020204" pitchFamily="34" charset="0"/>
                <a:cs typeface="Arial" panose="020B0604020202020204" pitchFamily="34" charset="0"/>
              </a:rPr>
              <a:t>, la guía se aproxima al comportamiento de una guía recta, reduciendo así la influencia de la curvatura sobre la propagación del modo.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Los resultados nos indican que para radios de curvatura grandes el índice efectivo apenas se ve afectado, ya que permite utilizar curvaturas relativamente grandes sin alterar significativamente las propiedades de propagación del modo guiado.</a:t>
            </a:r>
          </a:p>
        </p:txBody>
      </p:sp>
      <p:sp>
        <p:nvSpPr>
          <p:cNvPr id="7" name="Rectángulo 6">
            <a:extLst>
              <a:ext uri="{FF2B5EF4-FFF2-40B4-BE49-F238E27FC236}">
                <a16:creationId xmlns:a16="http://schemas.microsoft.com/office/drawing/2014/main" id="{D13810FA-8B3D-0DA3-2485-E60ECD9430A5}"/>
              </a:ext>
            </a:extLst>
          </p:cNvPr>
          <p:cNvSpPr/>
          <p:nvPr/>
        </p:nvSpPr>
        <p:spPr>
          <a:xfrm>
            <a:off x="609442" y="1418373"/>
            <a:ext cx="5698226" cy="4339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3B39DFD0-3BA7-9898-0BD3-E1EA163B5F5F}"/>
              </a:ext>
            </a:extLst>
          </p:cNvPr>
          <p:cNvPicPr>
            <a:picLocks noChangeAspect="1"/>
          </p:cNvPicPr>
          <p:nvPr/>
        </p:nvPicPr>
        <p:blipFill>
          <a:blip r:embed="rId5"/>
          <a:stretch>
            <a:fillRect/>
          </a:stretch>
        </p:blipFill>
        <p:spPr>
          <a:xfrm>
            <a:off x="685800" y="1480664"/>
            <a:ext cx="5470778" cy="4183536"/>
          </a:xfrm>
          <a:prstGeom prst="rect">
            <a:avLst/>
          </a:prstGeom>
        </p:spPr>
      </p:pic>
    </p:spTree>
    <p:extLst>
      <p:ext uri="{BB962C8B-B14F-4D97-AF65-F5344CB8AC3E}">
        <p14:creationId xmlns:p14="http://schemas.microsoft.com/office/powerpoint/2010/main" val="341499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4BB3-86CB-F2F0-3025-C5FF40466D9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238E9FF-CD3A-5AA5-1689-FD99D7859E1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1</a:t>
            </a:r>
            <a:br>
              <a:rPr lang="es-ES" sz="2500" spc="-5" dirty="0">
                <a:latin typeface="+mj-lt"/>
                <a:cs typeface="Lucida Sans"/>
              </a:rPr>
            </a:br>
            <a:r>
              <a:rPr lang="en-US" b="0" dirty="0"/>
              <a:t>Core material Silicon (Si) &amp; height 220 nm – width 500 nm </a:t>
            </a:r>
            <a:endParaRPr b="0" dirty="0">
              <a:latin typeface="+mj-lt"/>
              <a:cs typeface="Lucida Sans"/>
            </a:endParaRPr>
          </a:p>
        </p:txBody>
      </p:sp>
      <p:pic>
        <p:nvPicPr>
          <p:cNvPr id="83" name="Gráfico 82">
            <a:extLst>
              <a:ext uri="{FF2B5EF4-FFF2-40B4-BE49-F238E27FC236}">
                <a16:creationId xmlns:a16="http://schemas.microsoft.com/office/drawing/2014/main" id="{1CEF5CA1-BA93-FF57-12C3-E4CD01EB59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A7C916D-0349-1F55-6F13-FC88D851318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7C6A6314-ACE4-70B1-9B11-D38A09AAD1D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20EE27FD-73B0-784D-6690-9CA929E0F3BE}"/>
              </a:ext>
            </a:extLst>
          </p:cNvPr>
          <p:cNvSpPr txBox="1"/>
          <p:nvPr/>
        </p:nvSpPr>
        <p:spPr>
          <a:xfrm>
            <a:off x="583019" y="470273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ha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nuevamente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cambiando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material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(Si) y </a:t>
            </a:r>
            <a:r>
              <a:rPr lang="en-US" sz="1200" dirty="0" err="1">
                <a:latin typeface="Arial" panose="020B0604020202020204" pitchFamily="34" charset="0"/>
                <a:cs typeface="Arial" panose="020B0604020202020204" pitchFamily="34" charset="0"/>
              </a:rPr>
              <a:t>manteniendo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SiO2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con un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1.457,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gráficas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representa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línea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discontinua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a:t>
            </a:r>
            <a:r>
              <a:rPr lang="es-ES" sz="1200" dirty="0">
                <a:latin typeface="Arial" panose="020B0604020202020204" pitchFamily="34" charset="0"/>
                <a:cs typeface="Arial" panose="020B0604020202020204" pitchFamily="34" charset="0"/>
              </a:rPr>
              <a:t>podemos ver 4 modos y todos ellos se propagan muy confinados en el núcleo. Por otro lado, para la guía de onda es Deep, solo se propagan 2, el Modo 0 y 1. Otra vez, el Modo 0 es el que más confinado se encuentra en ambos casos.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las gráficas podemos ver que el índice efectivo no se mantiene constante, tiene un carácter decreciente ya que depende de la longitud de onda. </a:t>
            </a:r>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F07D10F7-DE67-C841-F540-7318C76CF795}"/>
              </a:ext>
            </a:extLst>
          </p:cNvPr>
          <p:cNvSpPr/>
          <p:nvPr/>
        </p:nvSpPr>
        <p:spPr>
          <a:xfrm>
            <a:off x="583019" y="1237122"/>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BA3A704-E381-C93D-693D-D3A9BE5B3DA1}"/>
              </a:ext>
            </a:extLst>
          </p:cNvPr>
          <p:cNvSpPr/>
          <p:nvPr/>
        </p:nvSpPr>
        <p:spPr>
          <a:xfrm>
            <a:off x="6450419" y="1237122"/>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8E97A703-9BC6-E814-1007-6E53736797E1}"/>
              </a:ext>
            </a:extLst>
          </p:cNvPr>
          <p:cNvPicPr>
            <a:picLocks noChangeAspect="1"/>
          </p:cNvPicPr>
          <p:nvPr/>
        </p:nvPicPr>
        <p:blipFill>
          <a:blip r:embed="rId5"/>
          <a:stretch>
            <a:fillRect/>
          </a:stretch>
        </p:blipFill>
        <p:spPr>
          <a:xfrm>
            <a:off x="669024" y="1482106"/>
            <a:ext cx="5160559" cy="3010326"/>
          </a:xfrm>
          <a:prstGeom prst="rect">
            <a:avLst/>
          </a:prstGeom>
        </p:spPr>
      </p:pic>
      <p:pic>
        <p:nvPicPr>
          <p:cNvPr id="9" name="Imagen 8">
            <a:extLst>
              <a:ext uri="{FF2B5EF4-FFF2-40B4-BE49-F238E27FC236}">
                <a16:creationId xmlns:a16="http://schemas.microsoft.com/office/drawing/2014/main" id="{1E109D0C-EA87-9B60-FA1D-578D3D0DD4B7}"/>
              </a:ext>
            </a:extLst>
          </p:cNvPr>
          <p:cNvPicPr>
            <a:picLocks noChangeAspect="1"/>
          </p:cNvPicPr>
          <p:nvPr/>
        </p:nvPicPr>
        <p:blipFill>
          <a:blip r:embed="rId6"/>
          <a:stretch>
            <a:fillRect/>
          </a:stretch>
        </p:blipFill>
        <p:spPr>
          <a:xfrm>
            <a:off x="6536424" y="1482106"/>
            <a:ext cx="5160559" cy="3010326"/>
          </a:xfrm>
          <a:prstGeom prst="rect">
            <a:avLst/>
          </a:prstGeom>
        </p:spPr>
      </p:pic>
    </p:spTree>
    <p:extLst>
      <p:ext uri="{BB962C8B-B14F-4D97-AF65-F5344CB8AC3E}">
        <p14:creationId xmlns:p14="http://schemas.microsoft.com/office/powerpoint/2010/main" val="291761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3D27-926D-ECCC-9B8E-2588FA54435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CEB9F08-21FC-FFC2-2B08-FE622EC532D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2</a:t>
            </a:r>
            <a:br>
              <a:rPr lang="es-ES" sz="3600" spc="-5" dirty="0">
                <a:cs typeface="Lucida Sans"/>
              </a:rPr>
            </a:br>
            <a:r>
              <a:rPr lang="en-US" b="0" dirty="0"/>
              <a:t>Core material Silicon (Si) &amp; height 220 nm – width [300 nm to 1 µm]</a:t>
            </a:r>
            <a:endParaRPr b="0" dirty="0">
              <a:latin typeface="+mj-lt"/>
              <a:cs typeface="Lucida Sans"/>
            </a:endParaRPr>
          </a:p>
        </p:txBody>
      </p:sp>
      <p:pic>
        <p:nvPicPr>
          <p:cNvPr id="83" name="Gráfico 82">
            <a:extLst>
              <a:ext uri="{FF2B5EF4-FFF2-40B4-BE49-F238E27FC236}">
                <a16:creationId xmlns:a16="http://schemas.microsoft.com/office/drawing/2014/main" id="{51A4F13A-C5B0-7F0F-C41F-1997486E1F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A686F0-B488-0C7F-7645-9B4EBFA46193}"/>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DB6E06C-CECF-834C-5165-C5673DAA10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B83DE1A-5A00-98D1-20D3-640DA25E11A5}"/>
              </a:ext>
            </a:extLst>
          </p:cNvPr>
          <p:cNvSpPr txBox="1"/>
          <p:nvPr/>
        </p:nvSpPr>
        <p:spPr>
          <a:xfrm>
            <a:off x="8382000" y="1418372"/>
            <a:ext cx="3298210" cy="470898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Tal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aµmenta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Respecto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un ancho inferior a 0.4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solo se </a:t>
            </a:r>
            <a:r>
              <a:rPr lang="en-US" sz="1200" dirty="0" err="1">
                <a:latin typeface="Arial" panose="020B0604020202020204" pitchFamily="34" charset="0"/>
                <a:cs typeface="Arial" panose="020B0604020202020204" pitchFamily="34" charset="0"/>
              </a:rPr>
              <a:t>propaga</a:t>
            </a:r>
            <a:r>
              <a:rPr lang="en-US" sz="1200" dirty="0">
                <a:latin typeface="Arial" panose="020B0604020202020204" pitchFamily="34" charset="0"/>
                <a:cs typeface="Arial" panose="020B0604020202020204" pitchFamily="34" charset="0"/>
              </a:rPr>
              <a:t> un modo TE y uno TM.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superiores</a:t>
            </a:r>
            <a:r>
              <a:rPr lang="en-US" sz="1200" dirty="0">
                <a:latin typeface="Arial" panose="020B0604020202020204" pitchFamily="34" charset="0"/>
                <a:cs typeface="Arial" panose="020B0604020202020204" pitchFamily="34" charset="0"/>
              </a:rPr>
              <a:t> a 0.5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2 con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dejando</a:t>
            </a:r>
            <a:r>
              <a:rPr lang="en-US" sz="1200" dirty="0">
                <a:latin typeface="Arial" panose="020B0604020202020204" pitchFamily="34" charset="0"/>
                <a:cs typeface="Arial" panose="020B0604020202020204" pitchFamily="34" charset="0"/>
              </a:rPr>
              <a:t> de ser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0.7 µm la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1 y 2 cambia. El Modo 1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polarización</a:t>
            </a:r>
            <a:r>
              <a:rPr lang="en-US" sz="1200" dirty="0">
                <a:latin typeface="Arial" panose="020B0604020202020204" pitchFamily="34" charset="0"/>
                <a:cs typeface="Arial" panose="020B0604020202020204" pitchFamily="34" charset="0"/>
              </a:rPr>
              <a:t> TM cambia a TE y </a:t>
            </a:r>
            <a:r>
              <a:rPr lang="en-US" sz="1200" dirty="0" err="1">
                <a:latin typeface="Arial" panose="020B0604020202020204" pitchFamily="34" charset="0"/>
                <a:cs typeface="Arial" panose="020B0604020202020204" pitchFamily="34" charset="0"/>
              </a:rPr>
              <a:t>viceversa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2.</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Es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punto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obtenemos</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es para un ancho de 0.4 </a:t>
            </a:r>
            <a:r>
              <a:rPr 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mantiene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monomodo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elevada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46034AA1-BC20-0D8C-7CF3-A60709009296}"/>
              </a:ext>
            </a:extLst>
          </p:cNvPr>
          <p:cNvSpPr/>
          <p:nvPr/>
        </p:nvSpPr>
        <p:spPr>
          <a:xfrm>
            <a:off x="609441" y="1418373"/>
            <a:ext cx="7543959" cy="470898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3FF3731A-5DEF-1B0E-3FCB-FB2ECF7C6A29}"/>
              </a:ext>
            </a:extLst>
          </p:cNvPr>
          <p:cNvPicPr>
            <a:picLocks noChangeAspect="1"/>
          </p:cNvPicPr>
          <p:nvPr/>
        </p:nvPicPr>
        <p:blipFill>
          <a:blip r:embed="rId5"/>
          <a:stretch>
            <a:fillRect/>
          </a:stretch>
        </p:blipFill>
        <p:spPr>
          <a:xfrm>
            <a:off x="685800" y="1688766"/>
            <a:ext cx="7396180" cy="4305633"/>
          </a:xfrm>
          <a:prstGeom prst="rect">
            <a:avLst/>
          </a:prstGeom>
        </p:spPr>
      </p:pic>
    </p:spTree>
    <p:extLst>
      <p:ext uri="{BB962C8B-B14F-4D97-AF65-F5344CB8AC3E}">
        <p14:creationId xmlns:p14="http://schemas.microsoft.com/office/powerpoint/2010/main" val="2255637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E533A-E098-3167-F986-C8B096823BD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032245C-B1EC-B590-FE44-0675982B348F}"/>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a:t>
            </a:r>
            <a:br>
              <a:rPr lang="es-ES" sz="3600" spc="-5" dirty="0">
                <a:cs typeface="Lucida Sans"/>
              </a:rPr>
            </a:br>
            <a:r>
              <a:rPr lang="en-US" b="0" dirty="0"/>
              <a:t>Core material Silicon (Si), height 220 nm – width 500 nm &amp; R [5µm to 30 µm]</a:t>
            </a:r>
            <a:endParaRPr b="0" dirty="0">
              <a:latin typeface="+mj-lt"/>
              <a:cs typeface="Lucida Sans"/>
            </a:endParaRPr>
          </a:p>
        </p:txBody>
      </p:sp>
      <p:pic>
        <p:nvPicPr>
          <p:cNvPr id="83" name="Gráfico 82">
            <a:extLst>
              <a:ext uri="{FF2B5EF4-FFF2-40B4-BE49-F238E27FC236}">
                <a16:creationId xmlns:a16="http://schemas.microsoft.com/office/drawing/2014/main" id="{A1CC4935-C373-F289-CBD0-14A2E462C6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1599CCD-4DF7-72CA-3ED4-AEE4DED5C3A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14D9F1C6-B3A2-37F3-885B-D3D449447E0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70BDF427-9527-74CB-CA93-4574FEF75ACB}"/>
              </a:ext>
            </a:extLst>
          </p:cNvPr>
          <p:cNvSpPr txBox="1"/>
          <p:nvPr/>
        </p:nvSpPr>
        <p:spPr>
          <a:xfrm>
            <a:off x="7467600" y="1418372"/>
            <a:ext cx="4212610" cy="4339650"/>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latin typeface="Arial" panose="020B0604020202020204" pitchFamily="34" charset="0"/>
                <a:cs typeface="Arial" panose="020B0604020202020204" pitchFamily="34" charset="0"/>
              </a:rPr>
              <a:t>Esta gráfica representa las pérdidas de modo, las pérdidas de propagación y las pérdidas totales para distintos radios de curvatura en una guía de onda con material de núcleo de silicio (Si).</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Como se puede observar, las pérdidas totales dependen de la combinación de ambos tipos de pérdidas. Para radios pequeños predominan las pérdidas de desajuste modal, mientras que al </a:t>
            </a:r>
            <a:r>
              <a:rPr lang="es-ES" sz="1200" dirty="0" err="1">
                <a:latin typeface="Arial" panose="020B0604020202020204" pitchFamily="34" charset="0"/>
                <a:cs typeface="Arial" panose="020B0604020202020204" pitchFamily="34" charset="0"/>
              </a:rPr>
              <a:t>aµmentar</a:t>
            </a:r>
            <a:r>
              <a:rPr lang="es-ES" sz="1200" dirty="0">
                <a:latin typeface="Arial" panose="020B0604020202020204" pitchFamily="34" charset="0"/>
                <a:cs typeface="Arial" panose="020B0604020202020204" pitchFamily="34" charset="0"/>
              </a:rPr>
              <a:t> el radio se incrementan las pérdidas de propagación asociadas a la longitud del recorrido en la curva.</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la gráfica se observa que el radio óptimo se encuentra aproximadamente en torno a 11 µm, ya que en ese punto las pérdidas totales alcanzan su valor mínimo y las contribuciones de las pérdidas de modo y de propagación se encuentran relativamente equilibradas.</a:t>
            </a: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4F510795-B6AC-A0E3-618C-EBB87C64334A}"/>
              </a:ext>
            </a:extLst>
          </p:cNvPr>
          <p:cNvSpPr/>
          <p:nvPr/>
        </p:nvSpPr>
        <p:spPr>
          <a:xfrm>
            <a:off x="609441" y="1418373"/>
            <a:ext cx="6629559" cy="43396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3438154C-9DB5-208B-AB06-1FFC2D6387FE}"/>
              </a:ext>
            </a:extLst>
          </p:cNvPr>
          <p:cNvPicPr>
            <a:picLocks noChangeAspect="1"/>
          </p:cNvPicPr>
          <p:nvPr/>
        </p:nvPicPr>
        <p:blipFill>
          <a:blip r:embed="rId5"/>
          <a:stretch>
            <a:fillRect/>
          </a:stretch>
        </p:blipFill>
        <p:spPr>
          <a:xfrm>
            <a:off x="1240816" y="1515280"/>
            <a:ext cx="5366807" cy="4145836"/>
          </a:xfrm>
          <a:prstGeom prst="rect">
            <a:avLst/>
          </a:prstGeom>
        </p:spPr>
      </p:pic>
    </p:spTree>
    <p:extLst>
      <p:ext uri="{BB962C8B-B14F-4D97-AF65-F5344CB8AC3E}">
        <p14:creationId xmlns:p14="http://schemas.microsoft.com/office/powerpoint/2010/main" val="313317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727D-A1AB-D9B9-6E9D-B6E1484486A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DF07326-B07A-1770-29A5-C6E5AA3E8C7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a:t>
            </a:r>
            <a:br>
              <a:rPr lang="es-ES" sz="2500" spc="-5" dirty="0">
                <a:latin typeface="+mj-lt"/>
                <a:cs typeface="Lucida Sans"/>
              </a:rPr>
            </a:br>
            <a:r>
              <a:rPr lang="en-US" b="0" dirty="0"/>
              <a:t>Comparison between technologies</a:t>
            </a:r>
            <a:endParaRPr b="0" dirty="0">
              <a:latin typeface="+mj-lt"/>
              <a:cs typeface="Lucida Sans"/>
            </a:endParaRPr>
          </a:p>
        </p:txBody>
      </p:sp>
      <p:pic>
        <p:nvPicPr>
          <p:cNvPr id="83" name="Gráfico 82">
            <a:extLst>
              <a:ext uri="{FF2B5EF4-FFF2-40B4-BE49-F238E27FC236}">
                <a16:creationId xmlns:a16="http://schemas.microsoft.com/office/drawing/2014/main" id="{3B58C8E8-E1F3-9498-CB07-6A848853D9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787CBC-13B4-F859-8789-EA3F85804100}"/>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499E419A-74C7-06B4-1E4F-29533CEC94BE}"/>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graphicFrame>
        <p:nvGraphicFramePr>
          <p:cNvPr id="10" name="Tabla 9">
            <a:extLst>
              <a:ext uri="{FF2B5EF4-FFF2-40B4-BE49-F238E27FC236}">
                <a16:creationId xmlns:a16="http://schemas.microsoft.com/office/drawing/2014/main" id="{BE6D78B7-C796-EBDB-13E0-339D256508F4}"/>
              </a:ext>
            </a:extLst>
          </p:cNvPr>
          <p:cNvGraphicFramePr>
            <a:graphicFrameLocks noGrp="1"/>
          </p:cNvGraphicFramePr>
          <p:nvPr>
            <p:extLst>
              <p:ext uri="{D42A27DB-BD31-4B8C-83A1-F6EECF244321}">
                <p14:modId xmlns:p14="http://schemas.microsoft.com/office/powerpoint/2010/main" val="1477566580"/>
              </p:ext>
            </p:extLst>
          </p:nvPr>
        </p:nvGraphicFramePr>
        <p:xfrm>
          <a:off x="563305" y="1317994"/>
          <a:ext cx="11239400" cy="4222011"/>
        </p:xfrm>
        <a:graphic>
          <a:graphicData uri="http://schemas.openxmlformats.org/drawingml/2006/table">
            <a:tbl>
              <a:tblPr firstRow="1" bandRow="1">
                <a:tableStyleId>{21E4AEA4-8DFA-4A89-87EB-49C32662AFE0}</a:tableStyleId>
              </a:tblPr>
              <a:tblGrid>
                <a:gridCol w="5587681">
                  <a:extLst>
                    <a:ext uri="{9D8B030D-6E8A-4147-A177-3AD203B41FA5}">
                      <a16:colId xmlns:a16="http://schemas.microsoft.com/office/drawing/2014/main" val="3714792932"/>
                    </a:ext>
                  </a:extLst>
                </a:gridCol>
                <a:gridCol w="5651719">
                  <a:extLst>
                    <a:ext uri="{9D8B030D-6E8A-4147-A177-3AD203B41FA5}">
                      <a16:colId xmlns:a16="http://schemas.microsoft.com/office/drawing/2014/main" val="603494867"/>
                    </a:ext>
                  </a:extLst>
                </a:gridCol>
              </a:tblGrid>
              <a:tr h="365134">
                <a:tc>
                  <a:txBody>
                    <a:bodyPr/>
                    <a:lstStyle/>
                    <a:p>
                      <a:pPr algn="ctr"/>
                      <a:r>
                        <a:rPr lang="es-ES" b="1" dirty="0"/>
                        <a:t>CORE MATERIAL – SILICON NITRIDE (</a:t>
                      </a:r>
                      <a:r>
                        <a:rPr lang="es-ES" b="1" dirty="0" err="1"/>
                        <a:t>SiNx</a:t>
                      </a:r>
                      <a:r>
                        <a:rPr lang="es-ES" b="1" dirty="0"/>
                        <a:t>)</a:t>
                      </a:r>
                    </a:p>
                  </a:txBody>
                  <a:tcPr anchor="ctr"/>
                </a:tc>
                <a:tc>
                  <a:txBody>
                    <a:bodyPr/>
                    <a:lstStyle/>
                    <a:p>
                      <a:pPr algn="ctr"/>
                      <a:r>
                        <a:rPr lang="es-ES" b="1" dirty="0"/>
                        <a:t>CORE MATERIAL – SILICON (Si)</a:t>
                      </a:r>
                    </a:p>
                  </a:txBody>
                  <a:tcPr anchor="ctr"/>
                </a:tc>
                <a:extLst>
                  <a:ext uri="{0D108BD9-81ED-4DB2-BD59-A6C34878D82A}">
                    <a16:rowId xmlns:a16="http://schemas.microsoft.com/office/drawing/2014/main" val="1154840119"/>
                  </a:ext>
                </a:extLst>
              </a:tr>
              <a:tr h="627064">
                <a:tc>
                  <a:txBody>
                    <a:bodyPr/>
                    <a:lstStyle/>
                    <a:p>
                      <a:pPr algn="l">
                        <a:buNone/>
                      </a:pPr>
                      <a:r>
                        <a:rPr lang="es-ES" sz="1400" b="0" dirty="0"/>
                        <a:t>El índice de refracción del núcleo es aproximadamente n ≈ 2, menor que el del silicio. </a:t>
                      </a:r>
                    </a:p>
                  </a:txBody>
                  <a:tcPr anchor="ctr"/>
                </a:tc>
                <a:tc>
                  <a:txBody>
                    <a:bodyPr/>
                    <a:lstStyle/>
                    <a:p>
                      <a:pPr algn="l">
                        <a:buNone/>
                      </a:pPr>
                      <a:r>
                        <a:rPr lang="es-ES" sz="1400" b="0" dirty="0"/>
                        <a:t>El índice de refracción del silicio es mucho mayor (n ≈ 3.48), lo que produce un mayor contraste de índice.</a:t>
                      </a:r>
                    </a:p>
                  </a:txBody>
                  <a:tcPr anchor="ctr"/>
                </a:tc>
                <a:extLst>
                  <a:ext uri="{0D108BD9-81ED-4DB2-BD59-A6C34878D82A}">
                    <a16:rowId xmlns:a16="http://schemas.microsoft.com/office/drawing/2014/main" val="3887036587"/>
                  </a:ext>
                </a:extLst>
              </a:tr>
              <a:tr h="821267">
                <a:tc>
                  <a:txBody>
                    <a:bodyPr/>
                    <a:lstStyle/>
                    <a:p>
                      <a:pPr algn="l">
                        <a:buNone/>
                      </a:pPr>
                      <a:r>
                        <a:rPr lang="es-ES" sz="1400" b="0" dirty="0"/>
                        <a:t>Debido a su menor índice efectivo, los modos no se encuentran tan confinados en el núcleo, por lo que parte del campo electromagnético se extiende hacia la cubierta. </a:t>
                      </a:r>
                    </a:p>
                  </a:txBody>
                  <a:tcPr anchor="ctr"/>
                </a:tc>
                <a:tc>
                  <a:txBody>
                    <a:bodyPr/>
                    <a:lstStyle/>
                    <a:p>
                      <a:pPr algn="l">
                        <a:buNone/>
                      </a:pPr>
                      <a:r>
                        <a:rPr lang="es-ES" sz="1400" b="0" dirty="0"/>
                        <a:t>El alto valor de índice efectivo provoca un fuerte confinamiento de los modos dentro del núcleo, manteniendo el campo más concentrado en la guía. El caso donde más se observa este confinamiento es para la guía de onda “</a:t>
                      </a:r>
                      <a:r>
                        <a:rPr lang="es-ES" sz="1400" b="0" dirty="0" err="1"/>
                        <a:t>Shallow</a:t>
                      </a:r>
                      <a:r>
                        <a:rPr lang="es-ES" sz="1400" b="0" dirty="0"/>
                        <a:t>”.</a:t>
                      </a:r>
                    </a:p>
                  </a:txBody>
                  <a:tcPr anchor="ctr"/>
                </a:tc>
                <a:extLst>
                  <a:ext uri="{0D108BD9-81ED-4DB2-BD59-A6C34878D82A}">
                    <a16:rowId xmlns:a16="http://schemas.microsoft.com/office/drawing/2014/main" val="512193831"/>
                  </a:ext>
                </a:extLst>
              </a:tr>
              <a:tr h="821267">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s-ES" sz="1400" b="0" dirty="0"/>
                        <a:t>En el estudio de dependencia con la longitud de onda, el índice efectivo disminuye ligeramente al aumentar la longitud de onda, mostrando el comportamiento dispersivo de la guía. </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s-ES" sz="1400" b="0" dirty="0"/>
                        <a:t>Se observa el mismo comportamiento dispersivo con la longitud de onda, aunque los valores de índice efectivo son mayores debido al mayor índice del material.</a:t>
                      </a:r>
                    </a:p>
                  </a:txBody>
                  <a:tcPr anchor="ctr"/>
                </a:tc>
                <a:extLst>
                  <a:ext uri="{0D108BD9-81ED-4DB2-BD59-A6C34878D82A}">
                    <a16:rowId xmlns:a16="http://schemas.microsoft.com/office/drawing/2014/main" val="3454099268"/>
                  </a:ext>
                </a:extLst>
              </a:tr>
              <a:tr h="581324">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s-ES" sz="1400" b="0" dirty="0"/>
                        <a:t>El comportamiento monomodo se mantiene aproximadamente hasta un ancho de 1.2 µm. Para valores mayores comienzan a propagarse más modos manteniendo cada uno de ellos su polarización inicial. </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s-ES" sz="1400" b="0" dirty="0"/>
                        <a:t>Debido al fuerte confinamiento, el régimen monomodo se alcanza con anchos mucho menores, aproximadamente 0.4 µm. En este caso, para valores mayores a 0.7 µm la polarización de un mismo modo se invierte.</a:t>
                      </a:r>
                    </a:p>
                  </a:txBody>
                  <a:tcPr anchor="ctr"/>
                </a:tc>
                <a:extLst>
                  <a:ext uri="{0D108BD9-81ED-4DB2-BD59-A6C34878D82A}">
                    <a16:rowId xmlns:a16="http://schemas.microsoft.com/office/drawing/2014/main" val="1622045509"/>
                  </a:ext>
                </a:extLst>
              </a:tr>
              <a:tr h="581324">
                <a:tc>
                  <a:txBody>
                    <a:bodyPr/>
                    <a:lstStyle/>
                    <a:p>
                      <a:pPr algn="l"/>
                      <a:r>
                        <a:rPr lang="es-ES" sz="1400" b="0" dirty="0">
                          <a:solidFill>
                            <a:schemeClr val="dk1"/>
                          </a:solidFill>
                          <a:latin typeface="+mn-lt"/>
                          <a:ea typeface="+mn-ea"/>
                          <a:cs typeface="+mn-cs"/>
                        </a:rPr>
                        <a:t>En guías curvas, el radio óptimo para minimizar pérdidas se encuentra aproximadamente entre 75 y 80 µm, lo que implica dispositivos menos compactos.</a:t>
                      </a:r>
                    </a:p>
                  </a:txBody>
                  <a:tcPr anchor="ctr"/>
                </a:tc>
                <a:tc>
                  <a:txBody>
                    <a:bodyPr/>
                    <a:lstStyle/>
                    <a:p>
                      <a:pPr marL="0" algn="l"/>
                      <a:r>
                        <a:rPr lang="es-ES" sz="1400" b="0" dirty="0">
                          <a:solidFill>
                            <a:schemeClr val="dk1"/>
                          </a:solidFill>
                          <a:latin typeface="+mn-lt"/>
                          <a:ea typeface="+mn-ea"/>
                          <a:cs typeface="+mn-cs"/>
                        </a:rPr>
                        <a:t>En guías de silicio el radio óptimo es mucho menor, alrededor de 11 µm, permitiendo diseñar circuitos fotónicos más compactos.</a:t>
                      </a:r>
                    </a:p>
                  </a:txBody>
                  <a:tcPr anchor="ctr"/>
                </a:tc>
                <a:extLst>
                  <a:ext uri="{0D108BD9-81ED-4DB2-BD59-A6C34878D82A}">
                    <a16:rowId xmlns:a16="http://schemas.microsoft.com/office/drawing/2014/main" val="460879611"/>
                  </a:ext>
                </a:extLst>
              </a:tr>
            </a:tbl>
          </a:graphicData>
        </a:graphic>
      </p:graphicFrame>
    </p:spTree>
    <p:extLst>
      <p:ext uri="{BB962C8B-B14F-4D97-AF65-F5344CB8AC3E}">
        <p14:creationId xmlns:p14="http://schemas.microsoft.com/office/powerpoint/2010/main" val="33781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TotalTime>
  <Words>2898</Words>
  <Application>Microsoft Office PowerPoint</Application>
  <PresentationFormat>Panorámica</PresentationFormat>
  <Paragraphs>205</Paragraphs>
  <Slides>16</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w=1.2µm   - Shallow waveguide, core h=300nm, slab h=150 nm, w = 1.2µm  </vt:lpstr>
      <vt:lpstr>Learning outcome #4 – Waveguide compact model - Find the compact models of the following waveguides:  Deep waveguide, h=300nm, w=1.2µm   - Shallow waveguide, core h=300nm, slab h=150 nm, w = 1.2µm  </vt:lpstr>
      <vt:lpstr>Learning outcome #5 – Bend waveguide radius vs. loss – deep Find  neff_TE0 for wvl 1.55 µm, width 1.2 µm for R=25,50,75,100, 125,150 µm</vt:lpstr>
      <vt:lpstr>Learning outcome #5 – Bend waveguide radius vs. loss – deep Find  neff_TE0 for wvl 1.55 µm, width 1.2 µm for R=25,50,75,100, 125,150 µm</vt:lpstr>
      <vt:lpstr>EXTRA 1 Core material Silicon (Si) &amp; height 220 nm – width 500 nm </vt:lpstr>
      <vt:lpstr>EXTRA 2 Core material Silicon (Si) &amp; height 220 nm – width [300 nm to 1 µm]</vt:lpstr>
      <vt:lpstr>EXTRA 3 Core material Silicon (Si), height 220 nm – width 500 nm &amp; R [5µm to 30 µm]</vt:lpstr>
      <vt:lpstr>EXTRA 4 Comparison between technologies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Ivan Martinez Mora</cp:lastModifiedBy>
  <cp:revision>4</cp:revision>
  <dcterms:created xsi:type="dcterms:W3CDTF">2025-01-27T02:46:57Z</dcterms:created>
  <dcterms:modified xsi:type="dcterms:W3CDTF">2026-03-11T07:09:26Z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